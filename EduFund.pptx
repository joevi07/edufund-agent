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edu-fund-agent.vercel.app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9664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7E969D"/>
                </a:solidFill>
                <a:latin typeface="Aptos"/>
              </a:defRPr>
            </a:pPr>
            <a:r>
              <a:rPr>
                <a:solidFill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1908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E969D"/>
                </a:solidFill>
                <a:latin typeface="Aptos"/>
              </a:defRPr>
            </a:pPr>
            <a:r>
              <a:rPr>
                <a:solidFill/>
              </a:rPr>
              <a:t>EDUFUND  /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71907"/>
            <a:ext cx="5486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9D97"/>
                </a:solidFill>
                <a:latin typeface="Aptos"/>
              </a:defRPr>
            </a:pPr>
            <a:r>
              <a:rPr sz="2800" dirty="0"/>
              <a:t>EDUFUND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49834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900" b="1">
                <a:solidFill>
                  <a:srgbClr val="182F3A"/>
                </a:solidFill>
                <a:latin typeface="Aptos"/>
              </a:defRPr>
            </a:pPr>
            <a:r>
              <a:rPr sz="4200" dirty="0">
                <a:solidFill/>
              </a:rPr>
              <a:t>Funding</a:t>
            </a:r>
          </a:p>
          <a:p>
            <a:pPr algn="l">
              <a:spcAft>
                <a:spcPts val="1200"/>
              </a:spcAft>
              <a:defRPr sz="3900" b="1">
                <a:solidFill>
                  <a:srgbClr val="182F3A"/>
                </a:solidFill>
                <a:latin typeface="Aptos"/>
              </a:defRPr>
            </a:pPr>
            <a:r>
              <a:rPr sz="4200" dirty="0">
                <a:solidFill/>
              </a:rPr>
              <a:t>is a strategy.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799" y="3675887"/>
            <a:ext cx="4594123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0DEE2"/>
                </a:solidFill>
                <a:latin typeface="Aptos"/>
              </a:defRPr>
            </a:pPr>
            <a:r>
              <a:rPr sz="2000" dirty="0">
                <a:solidFill/>
              </a:rPr>
              <a:t>An AI-guided workspace that turns a student profile into a funding plan and a safer application process.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024128"/>
            <a:ext cx="5074920" cy="504748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13448" y="1600200"/>
            <a:ext cx="3977639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20" y="196596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1">
                <a:solidFill>
                  <a:srgbClr val="5B6F77"/>
                </a:solidFill>
                <a:latin typeface="Aptos"/>
              </a:defRPr>
            </a:pPr>
            <a:r>
              <a:rPr>
                <a:solidFill/>
              </a:rPr>
              <a:t>ANNUAL EDUCATION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31343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82F3A"/>
                </a:solidFill>
                <a:latin typeface="Aptos"/>
              </a:defRPr>
            </a:pPr>
            <a:r>
              <a:rPr dirty="0">
                <a:solidFill/>
              </a:rPr>
              <a:t>₹2,00,000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2907792"/>
            <a:ext cx="3246120" cy="22860"/>
          </a:xfrm>
          <a:prstGeom prst="rect">
            <a:avLst/>
          </a:prstGeom>
          <a:solidFill>
            <a:srgbClr val="E0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3182112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1">
                <a:solidFill>
                  <a:srgbClr val="5B6F77"/>
                </a:solidFill>
                <a:latin typeface="Aptos"/>
              </a:defRPr>
            </a:pPr>
            <a:r>
              <a:rPr>
                <a:solidFill/>
              </a:rPr>
              <a:t>CONFIRMED 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480914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89D97"/>
                </a:solidFill>
                <a:latin typeface="Aptos"/>
              </a:defRPr>
            </a:pPr>
            <a:r>
              <a:rPr dirty="0">
                <a:solidFill/>
              </a:rPr>
              <a:t>₹30,000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270248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1">
                <a:solidFill>
                  <a:srgbClr val="5B6F77"/>
                </a:solidFill>
                <a:latin typeface="Aptos"/>
              </a:defRPr>
            </a:pPr>
            <a:r>
              <a:rPr>
                <a:solidFill/>
              </a:rPr>
              <a:t>REMAINING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6177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EF674E"/>
                </a:solidFill>
                <a:latin typeface="Aptos"/>
              </a:defRPr>
            </a:pPr>
            <a:r>
              <a:rPr>
                <a:solidFill/>
              </a:rPr>
              <a:t>₹1,70,000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6159" y="5427505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2F3A"/>
                </a:solidFill>
                <a:latin typeface="Aptos"/>
              </a:defRPr>
            </a:pPr>
            <a:r>
              <a:rPr dirty="0">
                <a:solidFill/>
              </a:rPr>
              <a:t>A plan starts here.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2" y="9832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7235" y="362675"/>
            <a:ext cx="266808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89D97"/>
                </a:solidFill>
                <a:latin typeface="Aptos"/>
              </a:defRPr>
            </a:pPr>
            <a:r>
              <a:rPr sz="2800" dirty="0"/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5B6F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1908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B6F77"/>
                </a:solidFill>
                <a:latin typeface="Aptos"/>
              </a:defRPr>
            </a:pPr>
            <a:r>
              <a:t>EDUFUND  /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9545" y="953505"/>
            <a:ext cx="747291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F3A"/>
                </a:solidFill>
                <a:latin typeface="Aptos"/>
              </a:defRPr>
            </a:pPr>
            <a:r>
              <a:rPr sz="2400" dirty="0"/>
              <a:t>Students face a funding maze, not a single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1401485"/>
            <a:ext cx="7068358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B6F77"/>
                </a:solidFill>
                <a:latin typeface="Aptos"/>
              </a:defRPr>
            </a:pPr>
            <a:r>
              <a:rPr sz="1500" dirty="0"/>
              <a:t>Scholarships, grants, fee waivers, documents and deadlines live in different places.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93392"/>
            <a:ext cx="5166360" cy="1481328"/>
          </a:xfrm>
          <a:prstGeom prst="roundRect">
            <a:avLst/>
          </a:prstGeom>
          <a:solidFill>
            <a:srgbClr val="EB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2194560"/>
            <a:ext cx="502920" cy="310896"/>
          </a:xfrm>
          <a:prstGeom prst="roundRect">
            <a:avLst/>
          </a:prstGeom>
          <a:solidFill>
            <a:srgbClr val="497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202114"/>
            <a:ext cx="5029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300" dirty="0"/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76272"/>
            <a:ext cx="3886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82F3A"/>
                </a:solidFill>
                <a:latin typeface="Aptos"/>
              </a:defRPr>
            </a:pPr>
            <a:r>
              <a:rPr sz="1600" dirty="0"/>
              <a:t>Opportunities are fragmented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96896"/>
            <a:ext cx="38862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F77"/>
                </a:solidFill>
                <a:latin typeface="Aptos"/>
              </a:defRPr>
            </a:pPr>
            <a:r>
              <a:rPr sz="1500" dirty="0"/>
              <a:t>Students search across portals, university pages and grant listings.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993392"/>
            <a:ext cx="5166360" cy="1481328"/>
          </a:xfrm>
          <a:prstGeom prst="roundRect">
            <a:avLst/>
          </a:prstGeom>
          <a:solidFill>
            <a:srgbClr val="FC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46520" y="2194560"/>
            <a:ext cx="502920" cy="310896"/>
          </a:xfrm>
          <a:prstGeom prst="roundRect">
            <a:avLst/>
          </a:prstGeom>
          <a:solidFill>
            <a:srgbClr val="EF6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213068"/>
            <a:ext cx="5029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300" dirty="0"/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19" y="2176272"/>
            <a:ext cx="3886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82F3A"/>
                </a:solidFill>
                <a:latin typeface="Aptos"/>
              </a:defRPr>
            </a:pPr>
            <a:r>
              <a:rPr sz="1600" dirty="0"/>
              <a:t>Eligibility hides in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19" y="2596896"/>
            <a:ext cx="38862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F77"/>
                </a:solidFill>
                <a:latin typeface="Aptos"/>
              </a:defRPr>
            </a:pPr>
            <a:r>
              <a:rPr sz="1500" dirty="0"/>
              <a:t>Course, grade, income and document rules can invalidate an application.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" y="3836694"/>
            <a:ext cx="5166360" cy="1481328"/>
          </a:xfrm>
          <a:prstGeom prst="roundRect">
            <a:avLst/>
          </a:prstGeom>
          <a:solidFill>
            <a:srgbClr val="FB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868680" y="4069080"/>
            <a:ext cx="502920" cy="310896"/>
          </a:xfrm>
          <a:prstGeom prst="roundRect">
            <a:avLst/>
          </a:prstGeom>
          <a:solidFill>
            <a:srgbClr val="E8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1" y="4098478"/>
            <a:ext cx="5029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300" dirty="0"/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50792"/>
            <a:ext cx="3886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82F3A"/>
                </a:solidFill>
                <a:latin typeface="Aptos"/>
              </a:defRPr>
            </a:pPr>
            <a:r>
              <a:rPr sz="1600" dirty="0"/>
              <a:t>Application effort repeats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71416"/>
            <a:ext cx="38862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F77"/>
                </a:solidFill>
                <a:latin typeface="Aptos"/>
              </a:defRPr>
            </a:pPr>
            <a:r>
              <a:rPr sz="1500" dirty="0"/>
              <a:t>The same marksheets, income proof and evidence appear across applications.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3867912"/>
            <a:ext cx="5166360" cy="148132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46520" y="4069080"/>
            <a:ext cx="502920" cy="310896"/>
          </a:xfrm>
          <a:prstGeom prst="roundRect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4087588"/>
            <a:ext cx="5029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300" dirty="0"/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19" y="4050792"/>
            <a:ext cx="3886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82F3A"/>
                </a:solidFill>
                <a:latin typeface="Aptos"/>
              </a:defRPr>
            </a:pPr>
            <a:r>
              <a:rPr sz="1600" dirty="0"/>
              <a:t>The real gap stays unclear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19" y="4471416"/>
            <a:ext cx="38862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F77"/>
                </a:solidFill>
                <a:latin typeface="Aptos"/>
              </a:defRPr>
            </a:pPr>
            <a:r>
              <a:rPr sz="1500" dirty="0"/>
              <a:t>Most directories do not calculate the cost still left to cover.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806440"/>
            <a:ext cx="10241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9D97"/>
                </a:solidFill>
                <a:latin typeface="Aptos"/>
              </a:defRPr>
            </a:pPr>
            <a:r>
              <a:rPr sz="1600" dirty="0" err="1"/>
              <a:t>EduFund</a:t>
            </a:r>
            <a:r>
              <a:rPr sz="1600" dirty="0"/>
              <a:t> connects the decisions students currently make separately.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9832" y="9832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8969" y="400326"/>
            <a:ext cx="21945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89D97"/>
                </a:solidFill>
                <a:latin typeface="Aptos"/>
              </a:defRPr>
            </a:pPr>
            <a:r>
              <a:rPr sz="2800" dirty="0"/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7E969D"/>
                </a:solidFill>
                <a:latin typeface="Apto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1908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E969D"/>
                </a:solidFill>
                <a:latin typeface="Aptos"/>
              </a:defRPr>
            </a:pPr>
            <a:r>
              <a:rPr>
                <a:solidFill/>
              </a:rPr>
              <a:t>EDUFUND  /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7042" y="1152144"/>
            <a:ext cx="5476519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F3A"/>
                </a:solidFill>
                <a:latin typeface="Aptos"/>
              </a:defRPr>
            </a:pPr>
            <a:r>
              <a:rPr dirty="0">
                <a:solidFill/>
              </a:rPr>
              <a:t>Six agents. One student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834" y="1774939"/>
            <a:ext cx="7890438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C5D6DB"/>
                </a:solidFill>
                <a:latin typeface="Aptos"/>
              </a:defRPr>
            </a:pPr>
            <a:r>
              <a:rPr sz="1500" dirty="0">
                <a:solidFill/>
              </a:rPr>
              <a:t>Each agent handles a different part of the funding workflow while the student stays in control.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601E074-FBEB-A65F-4AB5-AD01BD6F9DDB}"/>
              </a:ext>
            </a:extLst>
          </p:cNvPr>
          <p:cNvGrpSpPr/>
          <p:nvPr/>
        </p:nvGrpSpPr>
        <p:grpSpPr>
          <a:xfrm>
            <a:off x="546402" y="2875878"/>
            <a:ext cx="11371301" cy="1458378"/>
            <a:chOff x="667512" y="3599181"/>
            <a:chExt cx="11371301" cy="1458378"/>
          </a:xfrm>
        </p:grpSpPr>
        <p:cxnSp>
          <p:nvCxnSpPr>
            <p:cNvPr id="12" name="Connector 11"/>
            <p:cNvCxnSpPr/>
            <p:nvPr/>
          </p:nvCxnSpPr>
          <p:spPr>
            <a:xfrm>
              <a:off x="9738360" y="4069080"/>
              <a:ext cx="1600200" cy="0"/>
            </a:xfrm>
            <a:prstGeom prst="line">
              <a:avLst/>
            </a:prstGeom>
            <a:ln w="15240">
              <a:solidFill>
                <a:srgbClr val="3A5B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2569463" y="3803904"/>
              <a:ext cx="530352" cy="530352"/>
            </a:xfrm>
            <a:prstGeom prst="ellipse">
              <a:avLst/>
            </a:prstGeom>
            <a:solidFill>
              <a:srgbClr val="189D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/>
            </a:p>
          </p:txBody>
        </p:sp>
        <p:sp>
          <p:nvSpPr>
            <p:cNvPr id="33" name="Oval 32"/>
            <p:cNvSpPr/>
            <p:nvPr/>
          </p:nvSpPr>
          <p:spPr>
            <a:xfrm>
              <a:off x="10177272" y="3803904"/>
              <a:ext cx="530352" cy="530352"/>
            </a:xfrm>
            <a:prstGeom prst="ellipse">
              <a:avLst/>
            </a:prstGeom>
            <a:solidFill>
              <a:srgbClr val="189D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8C91A0B-B052-6189-DE3B-74059443961B}"/>
                </a:ext>
              </a:extLst>
            </p:cNvPr>
            <p:cNvGrpSpPr/>
            <p:nvPr/>
          </p:nvGrpSpPr>
          <p:grpSpPr>
            <a:xfrm>
              <a:off x="667512" y="3599181"/>
              <a:ext cx="11371301" cy="1458378"/>
              <a:chOff x="667512" y="3599181"/>
              <a:chExt cx="11371301" cy="1458378"/>
            </a:xfrm>
          </p:grpSpPr>
          <p:cxnSp>
            <p:nvCxnSpPr>
              <p:cNvPr id="8" name="Connector 7"/>
              <p:cNvCxnSpPr>
                <a:cxnSpLocks/>
              </p:cNvCxnSpPr>
              <p:nvPr/>
            </p:nvCxnSpPr>
            <p:spPr>
              <a:xfrm>
                <a:off x="1197864" y="4069080"/>
                <a:ext cx="1371599" cy="0"/>
              </a:xfrm>
              <a:prstGeom prst="line">
                <a:avLst/>
              </a:prstGeom>
              <a:ln w="15240">
                <a:solidFill>
                  <a:srgbClr val="3A5B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nector 8"/>
              <p:cNvCxnSpPr>
                <a:cxnSpLocks/>
                <a:stCxn id="17" idx="6"/>
              </p:cNvCxnSpPr>
              <p:nvPr/>
            </p:nvCxnSpPr>
            <p:spPr>
              <a:xfrm>
                <a:off x="3099815" y="4069080"/>
                <a:ext cx="2798065" cy="0"/>
              </a:xfrm>
              <a:prstGeom prst="line">
                <a:avLst/>
              </a:prstGeom>
              <a:ln w="15240">
                <a:solidFill>
                  <a:srgbClr val="3A5B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ctor 9"/>
              <p:cNvCxnSpPr>
                <a:cxnSpLocks/>
              </p:cNvCxnSpPr>
              <p:nvPr/>
            </p:nvCxnSpPr>
            <p:spPr>
              <a:xfrm>
                <a:off x="5897880" y="4069080"/>
                <a:ext cx="1920240" cy="0"/>
              </a:xfrm>
              <a:prstGeom prst="line">
                <a:avLst/>
              </a:prstGeom>
              <a:ln w="15240">
                <a:solidFill>
                  <a:srgbClr val="3A5B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or 10"/>
              <p:cNvCxnSpPr>
                <a:cxnSpLocks/>
              </p:cNvCxnSpPr>
              <p:nvPr/>
            </p:nvCxnSpPr>
            <p:spPr>
              <a:xfrm>
                <a:off x="7783461" y="4069080"/>
                <a:ext cx="1954899" cy="0"/>
              </a:xfrm>
              <a:prstGeom prst="line">
                <a:avLst/>
              </a:prstGeom>
              <a:ln w="15240">
                <a:solidFill>
                  <a:srgbClr val="3A5B6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val 12"/>
              <p:cNvSpPr/>
              <p:nvPr/>
            </p:nvSpPr>
            <p:spPr>
              <a:xfrm>
                <a:off x="667512" y="3803904"/>
                <a:ext cx="530352" cy="530352"/>
              </a:xfrm>
              <a:prstGeom prst="ellipse">
                <a:avLst/>
              </a:prstGeom>
              <a:solidFill>
                <a:srgbClr val="4976D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solidFill/>
                  </a:defRPr>
                </a:pPr>
                <a:endParaRPr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59715" y="3945969"/>
                <a:ext cx="323088" cy="24622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850" b="1">
                    <a:solidFill>
                      <a:srgbClr val="189D97"/>
                    </a:solidFill>
                    <a:latin typeface="Aptos"/>
                  </a:defRPr>
                </a:pPr>
                <a:r>
                  <a:rPr sz="1000" dirty="0">
                    <a:solidFill/>
                  </a:rPr>
                  <a:t>01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484376" y="3618345"/>
                <a:ext cx="1298448" cy="27699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150" b="1">
                    <a:solidFill>
                      <a:srgbClr val="182F3A"/>
                    </a:solidFill>
                    <a:latin typeface="Aptos"/>
                  </a:defRPr>
                </a:pPr>
                <a:r>
                  <a:rPr sz="1200" dirty="0">
                    <a:solidFill/>
                  </a:rPr>
                  <a:t>PROFILE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312925" y="4318895"/>
                <a:ext cx="1397505" cy="7386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  <a:defRPr sz="869" b="0">
                    <a:solidFill>
                      <a:srgbClr val="C1D3D8"/>
                    </a:solidFill>
                    <a:latin typeface="Aptos"/>
                  </a:defRPr>
                </a:pPr>
                <a:r>
                  <a:rPr sz="1400" dirty="0">
                    <a:solidFill/>
                  </a:rPr>
                  <a:t>Study</a:t>
                </a:r>
                <a:endParaRPr lang="en-IN" sz="1400" dirty="0">
                  <a:solidFill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  <a:defRPr sz="869" b="0">
                    <a:solidFill>
                      <a:srgbClr val="C1D3D8"/>
                    </a:solidFill>
                    <a:latin typeface="Aptos"/>
                  </a:defRPr>
                </a:pPr>
                <a:r>
                  <a:rPr lang="en-IN" sz="1400" dirty="0">
                    <a:solidFill/>
                  </a:rPr>
                  <a:t>F</a:t>
                </a:r>
                <a:r>
                  <a:rPr sz="1400" dirty="0" err="1">
                    <a:solidFill/>
                  </a:rPr>
                  <a:t>inance</a:t>
                </a:r>
                <a:r>
                  <a:rPr lang="en-IN" sz="1400" dirty="0">
                    <a:solidFill/>
                  </a:rPr>
                  <a:t>s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  <a:defRPr sz="869" b="0">
                    <a:solidFill>
                      <a:srgbClr val="C1D3D8"/>
                    </a:solidFill>
                    <a:latin typeface="Aptos"/>
                  </a:defRPr>
                </a:pPr>
                <a:r>
                  <a:rPr lang="en-IN" sz="1400" dirty="0">
                    <a:solidFill/>
                  </a:rPr>
                  <a:t>G</a:t>
                </a:r>
                <a:r>
                  <a:rPr sz="1400" dirty="0" err="1">
                    <a:solidFill/>
                  </a:rPr>
                  <a:t>oals</a:t>
                </a:r>
                <a:endParaRPr sz="1400" dirty="0">
                  <a:solidFill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644519" y="3936715"/>
                <a:ext cx="323088" cy="24622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850" b="1">
                    <a:solidFill>
                      <a:srgbClr val="189D97"/>
                    </a:solidFill>
                    <a:latin typeface="Aptos"/>
                  </a:defRPr>
                </a:pPr>
                <a:r>
                  <a:rPr sz="1000" dirty="0">
                    <a:solidFill/>
                  </a:rPr>
                  <a:t>02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386328" y="3618345"/>
                <a:ext cx="1298448" cy="27699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150" b="1">
                    <a:solidFill>
                      <a:srgbClr val="182F3A"/>
                    </a:solidFill>
                    <a:latin typeface="Aptos"/>
                  </a:defRPr>
                </a:pPr>
                <a:r>
                  <a:rPr sz="1200" dirty="0">
                    <a:solidFill/>
                  </a:rPr>
                  <a:t>DISCOVERY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3330319" y="4300127"/>
                <a:ext cx="1243584" cy="69249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869" b="0">
                    <a:solidFill>
                      <a:srgbClr val="C1D3D8"/>
                    </a:solidFill>
                    <a:latin typeface="Aptos"/>
                  </a:defRPr>
                </a:pPr>
                <a:r>
                  <a:rPr sz="1300" dirty="0">
                    <a:solidFill/>
                  </a:rPr>
                  <a:t>Profile-relevant opportunities</a:t>
                </a: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4471416" y="3803904"/>
                <a:ext cx="530352" cy="530352"/>
              </a:xfrm>
              <a:prstGeom prst="ellipse">
                <a:avLst/>
              </a:prstGeom>
              <a:solidFill>
                <a:srgbClr val="EF674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solidFill/>
                  </a:defRPr>
                </a:pPr>
                <a:endParaRPr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4573903" y="3942921"/>
                <a:ext cx="323088" cy="24622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850" b="1">
                    <a:solidFill>
                      <a:srgbClr val="189D97"/>
                    </a:solidFill>
                    <a:latin typeface="Aptos"/>
                  </a:defRPr>
                </a:pPr>
                <a:r>
                  <a:rPr sz="1000" dirty="0">
                    <a:solidFill/>
                  </a:rPr>
                  <a:t>03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288280" y="3618345"/>
                <a:ext cx="1298448" cy="27699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150" b="1">
                    <a:solidFill>
                      <a:srgbClr val="182F3A"/>
                    </a:solidFill>
                    <a:latin typeface="Aptos"/>
                  </a:defRPr>
                </a:pPr>
                <a:r>
                  <a:rPr sz="1200">
                    <a:solidFill/>
                  </a:rPr>
                  <a:t>ELIGIBILITY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5084064" y="4366927"/>
                <a:ext cx="1243584" cy="4924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869" b="0">
                    <a:solidFill>
                      <a:srgbClr val="C1D3D8"/>
                    </a:solidFill>
                    <a:latin typeface="Aptos"/>
                  </a:defRPr>
                </a:pPr>
                <a:r>
                  <a:rPr sz="1300" dirty="0">
                    <a:solidFill/>
                  </a:rPr>
                  <a:t>Rules against the profile</a:t>
                </a:r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6373368" y="3803904"/>
                <a:ext cx="530352" cy="530352"/>
              </a:xfrm>
              <a:prstGeom prst="ellipse">
                <a:avLst/>
              </a:prstGeom>
              <a:solidFill>
                <a:srgbClr val="E8B14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solidFill/>
                  </a:defRPr>
                </a:pPr>
                <a:endParaRPr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6477000" y="3950033"/>
                <a:ext cx="323088" cy="24622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850" b="1">
                    <a:solidFill>
                      <a:srgbClr val="189D97"/>
                    </a:solidFill>
                    <a:latin typeface="Aptos"/>
                  </a:defRPr>
                </a:pPr>
                <a:r>
                  <a:rPr sz="1000" dirty="0">
                    <a:solidFill/>
                  </a:rPr>
                  <a:t>04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7190232" y="3618345"/>
                <a:ext cx="1298448" cy="27699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150" b="1">
                    <a:solidFill>
                      <a:srgbClr val="182F3A"/>
                    </a:solidFill>
                    <a:latin typeface="Aptos"/>
                  </a:defRPr>
                </a:pPr>
                <a:r>
                  <a:rPr sz="1200" dirty="0">
                    <a:solidFill/>
                  </a:rPr>
                  <a:t>PLANNER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6967728" y="4366926"/>
                <a:ext cx="1243584" cy="4924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869" b="0">
                    <a:solidFill>
                      <a:srgbClr val="C1D3D8"/>
                    </a:solidFill>
                    <a:latin typeface="Aptos"/>
                  </a:defRPr>
                </a:pPr>
                <a:r>
                  <a:rPr sz="1300" dirty="0">
                    <a:solidFill/>
                  </a:rPr>
                  <a:t>Expected-value portfolio</a:t>
                </a:r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8275320" y="3803904"/>
                <a:ext cx="530352" cy="530352"/>
              </a:xfrm>
              <a:prstGeom prst="ellipse">
                <a:avLst/>
              </a:prstGeom>
              <a:solidFill>
                <a:srgbClr val="4976D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solidFill/>
                  </a:defRPr>
                </a:pPr>
                <a:endParaRPr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8367623" y="3936714"/>
                <a:ext cx="325120" cy="24622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850" b="1">
                    <a:solidFill>
                      <a:srgbClr val="189D97"/>
                    </a:solidFill>
                    <a:latin typeface="Aptos"/>
                  </a:defRPr>
                </a:pPr>
                <a:r>
                  <a:rPr sz="1000" dirty="0">
                    <a:solidFill/>
                  </a:rPr>
                  <a:t>05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9092184" y="3618345"/>
                <a:ext cx="1298448" cy="27699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150" b="1">
                    <a:solidFill>
                      <a:srgbClr val="182F3A"/>
                    </a:solidFill>
                    <a:latin typeface="Aptos"/>
                  </a:defRPr>
                </a:pPr>
                <a:r>
                  <a:rPr sz="1200">
                    <a:solidFill/>
                  </a:rPr>
                  <a:t>AUTOPILOT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8817864" y="4282805"/>
                <a:ext cx="1530096" cy="69249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  <a:defRPr sz="869" b="0">
                    <a:solidFill>
                      <a:srgbClr val="C1D3D8"/>
                    </a:solidFill>
                    <a:latin typeface="Aptos"/>
                  </a:defRPr>
                </a:pPr>
                <a:r>
                  <a:rPr sz="1300" dirty="0">
                    <a:solidFill/>
                  </a:rPr>
                  <a:t>Documents </a:t>
                </a:r>
                <a:endParaRPr lang="en-IN" sz="1300" dirty="0">
                  <a:solidFill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  <a:defRPr sz="869" b="0">
                    <a:solidFill>
                      <a:srgbClr val="C1D3D8"/>
                    </a:solidFill>
                    <a:latin typeface="Aptos"/>
                  </a:defRPr>
                </a:pPr>
                <a:r>
                  <a:rPr lang="en-IN" sz="1300" dirty="0">
                    <a:solidFill/>
                  </a:rPr>
                  <a:t>E</a:t>
                </a:r>
                <a:r>
                  <a:rPr sz="1300" dirty="0" err="1">
                    <a:solidFill/>
                  </a:rPr>
                  <a:t>ssays</a:t>
                </a:r>
                <a:endParaRPr lang="en-IN" sz="1300" dirty="0">
                  <a:solidFill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  <a:defRPr sz="869" b="0">
                    <a:solidFill>
                      <a:srgbClr val="C1D3D8"/>
                    </a:solidFill>
                    <a:latin typeface="Aptos"/>
                  </a:defRPr>
                </a:pPr>
                <a:r>
                  <a:rPr lang="en-IN" sz="1300" dirty="0">
                    <a:solidFill/>
                  </a:rPr>
                  <a:t>R</a:t>
                </a:r>
                <a:r>
                  <a:rPr sz="1300" dirty="0" err="1">
                    <a:solidFill/>
                  </a:rPr>
                  <a:t>eview</a:t>
                </a:r>
                <a:endParaRPr sz="1300" dirty="0">
                  <a:solidFill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10254996" y="3929722"/>
                <a:ext cx="323088" cy="24622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850" b="1">
                    <a:solidFill>
                      <a:srgbClr val="189D97"/>
                    </a:solidFill>
                    <a:latin typeface="Aptos"/>
                  </a:defRPr>
                </a:pPr>
                <a:r>
                  <a:rPr sz="1000" dirty="0">
                    <a:solidFill/>
                  </a:rPr>
                  <a:t>06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0740365" y="3599181"/>
                <a:ext cx="1298448" cy="27699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150" b="1">
                    <a:solidFill>
                      <a:srgbClr val="182F3A"/>
                    </a:solidFill>
                    <a:latin typeface="Aptos"/>
                  </a:defRPr>
                </a:pPr>
                <a:r>
                  <a:rPr sz="1200" dirty="0">
                    <a:solidFill/>
                  </a:rPr>
                  <a:t>DEADLINE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10701528" y="4296822"/>
                <a:ext cx="1243584" cy="4924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  <a:defRPr sz="869" b="0">
                    <a:solidFill>
                      <a:srgbClr val="C1D3D8"/>
                    </a:solidFill>
                    <a:latin typeface="Aptos"/>
                  </a:defRPr>
                </a:pPr>
                <a:r>
                  <a:rPr sz="1300" dirty="0">
                    <a:solidFill/>
                  </a:rPr>
                  <a:t>Collision</a:t>
                </a:r>
                <a:endParaRPr lang="en-IN" sz="1300" dirty="0">
                  <a:solidFill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  <a:defRPr sz="869" b="0">
                    <a:solidFill>
                      <a:srgbClr val="C1D3D8"/>
                    </a:solidFill>
                    <a:latin typeface="Aptos"/>
                  </a:defRPr>
                </a:pPr>
                <a:r>
                  <a:rPr lang="en-IN" sz="1300" dirty="0">
                    <a:solidFill/>
                  </a:rPr>
                  <a:t>R</a:t>
                </a:r>
                <a:r>
                  <a:rPr sz="1300" dirty="0" err="1">
                    <a:solidFill/>
                  </a:rPr>
                  <a:t>euse</a:t>
                </a:r>
                <a:endParaRPr sz="1300" dirty="0">
                  <a:solidFill/>
                </a:endParaRPr>
              </a:p>
            </p:txBody>
          </p:sp>
        </p:grpSp>
      </p:grpSp>
      <p:sp>
        <p:nvSpPr>
          <p:cNvPr id="37" name="TextBox 36"/>
          <p:cNvSpPr txBox="1"/>
          <p:nvPr/>
        </p:nvSpPr>
        <p:spPr>
          <a:xfrm>
            <a:off x="646150" y="481119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82F3A"/>
                </a:solidFill>
                <a:latin typeface="Aptos"/>
              </a:defRPr>
            </a:pPr>
            <a:r>
              <a:rPr dirty="0">
                <a:solidFill/>
              </a:rPr>
              <a:t>Profile → Discover → Check → Plan → Prepare → Track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5" y="-294558"/>
            <a:ext cx="12191695" cy="7152557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474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89D97"/>
                </a:solidFill>
                <a:latin typeface="Aptos"/>
              </a:defRPr>
            </a:pPr>
            <a:r>
              <a:rPr sz="2800" dirty="0"/>
              <a:t>FINANCIAL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5B6F7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8707" y="99889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F3A"/>
                </a:solidFill>
                <a:latin typeface="Aptos"/>
              </a:defRPr>
            </a:pPr>
            <a:r>
              <a:rPr dirty="0"/>
              <a:t>A funding plan begins with the amount still left to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1551605"/>
            <a:ext cx="10515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B6F77"/>
                </a:solidFill>
                <a:latin typeface="Aptos"/>
              </a:defRPr>
            </a:pPr>
            <a:r>
              <a:rPr sz="1500" dirty="0"/>
              <a:t>The planner frames every recommendation against target cost and confirmed support.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4E31E8C-0D72-45FE-7C17-6953195FF102}"/>
              </a:ext>
            </a:extLst>
          </p:cNvPr>
          <p:cNvGrpSpPr/>
          <p:nvPr/>
        </p:nvGrpSpPr>
        <p:grpSpPr>
          <a:xfrm>
            <a:off x="505585" y="2092027"/>
            <a:ext cx="3337560" cy="1060704"/>
            <a:chOff x="685800" y="1847088"/>
            <a:chExt cx="3337560" cy="1060704"/>
          </a:xfrm>
        </p:grpSpPr>
        <p:sp>
          <p:nvSpPr>
            <p:cNvPr id="8" name="Rounded Rectangle 7"/>
            <p:cNvSpPr/>
            <p:nvPr/>
          </p:nvSpPr>
          <p:spPr>
            <a:xfrm>
              <a:off x="685800" y="1847088"/>
              <a:ext cx="3337560" cy="10607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DE4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68680" y="1984248"/>
              <a:ext cx="2971800" cy="21031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880" b="1">
                  <a:solidFill>
                    <a:srgbClr val="5B6F77"/>
                  </a:solidFill>
                  <a:latin typeface="Aptos"/>
                </a:defRPr>
              </a:pPr>
              <a:r>
                <a:t>TARGET ANNUAL COST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68680" y="2276856"/>
              <a:ext cx="2971800" cy="38404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2200" b="1">
                  <a:solidFill>
                    <a:srgbClr val="182F3A"/>
                  </a:solidFill>
                  <a:latin typeface="Aptos"/>
                </a:defRPr>
              </a:pPr>
              <a:r>
                <a:t>₹2,00,000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68680" y="2743200"/>
              <a:ext cx="2971800" cy="22860"/>
            </a:xfrm>
            <a:prstGeom prst="rect">
              <a:avLst/>
            </a:prstGeom>
            <a:solidFill>
              <a:srgbClr val="E0E7E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547F58-BE68-50FD-D063-F1BEFC8FDA38}"/>
              </a:ext>
            </a:extLst>
          </p:cNvPr>
          <p:cNvGrpSpPr/>
          <p:nvPr/>
        </p:nvGrpSpPr>
        <p:grpSpPr>
          <a:xfrm>
            <a:off x="4429732" y="2015237"/>
            <a:ext cx="3337560" cy="1060704"/>
            <a:chOff x="4425696" y="1847088"/>
            <a:chExt cx="3337560" cy="1060704"/>
          </a:xfrm>
        </p:grpSpPr>
        <p:sp>
          <p:nvSpPr>
            <p:cNvPr id="12" name="Rounded Rectangle 11"/>
            <p:cNvSpPr/>
            <p:nvPr/>
          </p:nvSpPr>
          <p:spPr>
            <a:xfrm>
              <a:off x="4425696" y="1847088"/>
              <a:ext cx="3337560" cy="10607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DE4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608576" y="1984248"/>
              <a:ext cx="2971800" cy="21031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880" b="1">
                  <a:solidFill>
                    <a:srgbClr val="5B6F77"/>
                  </a:solidFill>
                  <a:latin typeface="Aptos"/>
                </a:defRPr>
              </a:pPr>
              <a:r>
                <a:t>CONFIRMED AID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08576" y="2276856"/>
              <a:ext cx="2971800" cy="38404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2200" b="1">
                  <a:solidFill>
                    <a:srgbClr val="189D97"/>
                  </a:solidFill>
                  <a:latin typeface="Aptos"/>
                </a:defRPr>
              </a:pPr>
              <a:r>
                <a:rPr dirty="0"/>
                <a:t>₹30,000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608576" y="2743200"/>
              <a:ext cx="2971800" cy="22860"/>
            </a:xfrm>
            <a:prstGeom prst="rect">
              <a:avLst/>
            </a:prstGeom>
            <a:solidFill>
              <a:srgbClr val="E0E7E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461D260-13AE-0435-0CEC-14B75984A0F2}"/>
              </a:ext>
            </a:extLst>
          </p:cNvPr>
          <p:cNvGrpSpPr/>
          <p:nvPr/>
        </p:nvGrpSpPr>
        <p:grpSpPr>
          <a:xfrm>
            <a:off x="8354185" y="2002536"/>
            <a:ext cx="3337560" cy="1060704"/>
            <a:chOff x="8165592" y="1847088"/>
            <a:chExt cx="3337560" cy="1060704"/>
          </a:xfrm>
        </p:grpSpPr>
        <p:sp>
          <p:nvSpPr>
            <p:cNvPr id="16" name="Rounded Rectangle 15"/>
            <p:cNvSpPr/>
            <p:nvPr/>
          </p:nvSpPr>
          <p:spPr>
            <a:xfrm>
              <a:off x="8165592" y="1847088"/>
              <a:ext cx="3337560" cy="10607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DE4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48471" y="1984248"/>
              <a:ext cx="2971800" cy="21031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880" b="1">
                  <a:solidFill>
                    <a:srgbClr val="5B6F77"/>
                  </a:solidFill>
                  <a:latin typeface="Aptos"/>
                </a:defRPr>
              </a:pPr>
              <a:r>
                <a:rPr dirty="0"/>
                <a:t>REMAINING GAP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348471" y="2276856"/>
              <a:ext cx="2971800" cy="38404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2200" b="1">
                  <a:solidFill>
                    <a:srgbClr val="EF674E"/>
                  </a:solidFill>
                  <a:latin typeface="Aptos"/>
                </a:defRPr>
              </a:pPr>
              <a:r>
                <a:t>₹1,70,000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348471" y="2743200"/>
              <a:ext cx="2971800" cy="22860"/>
            </a:xfrm>
            <a:prstGeom prst="rect">
              <a:avLst/>
            </a:prstGeom>
            <a:solidFill>
              <a:srgbClr val="E0E7E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68425" y="3619524"/>
            <a:ext cx="32918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B6F77"/>
                </a:solidFill>
                <a:latin typeface="Aptos"/>
              </a:defRPr>
            </a:pPr>
            <a:r>
              <a:rPr sz="1300" dirty="0"/>
              <a:t>THE EDUCATION FUNDING EQUATION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604" y="3995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82F3A"/>
                </a:solidFill>
                <a:latin typeface="Aptos"/>
              </a:defRPr>
            </a:pPr>
            <a:r>
              <a:rPr dirty="0"/>
              <a:t>Target annual cost   −   confirmed aid   =   remaining funding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3474720" cy="1885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B6F77"/>
                </a:solidFill>
                <a:latin typeface="Aptos"/>
              </a:defRPr>
            </a:pPr>
            <a:r>
              <a:rPr dirty="0"/>
              <a:t>EDUFUND  /  HACKATHON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044" y="4581144"/>
            <a:ext cx="5166360" cy="12725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4756" y="4749945"/>
            <a:ext cx="59436" cy="933383"/>
          </a:xfrm>
          <a:prstGeom prst="rect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5924" y="4721819"/>
            <a:ext cx="4800600" cy="3410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82F3A"/>
                </a:solidFill>
                <a:latin typeface="Aptos"/>
              </a:defRPr>
            </a:pPr>
            <a:r>
              <a:rPr sz="1550" dirty="0"/>
              <a:t>Funding Confidence Meter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924" y="5183721"/>
            <a:ext cx="4800600" cy="301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5B6F77"/>
                </a:solidFill>
                <a:latin typeface="Aptos"/>
              </a:defRPr>
            </a:pPr>
            <a:r>
              <a:rPr sz="1300" dirty="0"/>
              <a:t>Confirmed • Probable • Possible • Uncovered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CD8793-5386-2FEB-6A4A-CBEFDA909E1A}"/>
              </a:ext>
            </a:extLst>
          </p:cNvPr>
          <p:cNvGrpSpPr/>
          <p:nvPr/>
        </p:nvGrpSpPr>
        <p:grpSpPr>
          <a:xfrm>
            <a:off x="6199632" y="4585354"/>
            <a:ext cx="5303520" cy="1234440"/>
            <a:chOff x="6199632" y="4407408"/>
            <a:chExt cx="5303520" cy="1234440"/>
          </a:xfrm>
        </p:grpSpPr>
        <p:sp>
          <p:nvSpPr>
            <p:cNvPr id="26" name="Rounded Rectangle 25"/>
            <p:cNvSpPr/>
            <p:nvPr/>
          </p:nvSpPr>
          <p:spPr>
            <a:xfrm>
              <a:off x="6199632" y="4407408"/>
              <a:ext cx="5303520" cy="12344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5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199632" y="4572000"/>
              <a:ext cx="59436" cy="864870"/>
            </a:xfrm>
            <a:prstGeom prst="rect">
              <a:avLst/>
            </a:prstGeom>
            <a:solidFill>
              <a:srgbClr val="EF67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400800" y="4572000"/>
              <a:ext cx="4937759" cy="3308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400" b="1">
                  <a:solidFill>
                    <a:srgbClr val="182F3A"/>
                  </a:solidFill>
                  <a:latin typeface="Aptos"/>
                </a:defRPr>
              </a:pPr>
              <a:r>
                <a:rPr sz="1550" dirty="0"/>
                <a:t>Decision boundary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00800" y="5020056"/>
              <a:ext cx="4937759" cy="4924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80" b="0">
                  <a:solidFill>
                    <a:srgbClr val="5B6F77"/>
                  </a:solidFill>
                  <a:latin typeface="Aptos"/>
                </a:defRPr>
              </a:pPr>
              <a:r>
                <a:rPr sz="1300" dirty="0"/>
                <a:t>Confidence supports decisions; funding providers make award decisions.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9" y="513393"/>
            <a:ext cx="347471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89D97"/>
                </a:solidFill>
                <a:latin typeface="Aptos"/>
              </a:defRPr>
            </a:pPr>
            <a:r>
              <a:rPr sz="2800" dirty="0"/>
              <a:t>PLANNER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5B6F7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1908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B6F77"/>
                </a:solidFill>
                <a:latin typeface="Aptos"/>
              </a:defRPr>
            </a:pPr>
            <a:r>
              <a:t>EDUFUND  /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2536" y="1196634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F3A"/>
                </a:solidFill>
                <a:latin typeface="Aptos"/>
              </a:defRPr>
            </a:pPr>
            <a:r>
              <a:rPr dirty="0"/>
              <a:t>Expected value helps </a:t>
            </a:r>
            <a:r>
              <a:rPr dirty="0" err="1"/>
              <a:t>prioritise</a:t>
            </a:r>
            <a:r>
              <a:rPr dirty="0"/>
              <a:t> application effort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94832" y="1758687"/>
            <a:ext cx="10515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B6F77"/>
                </a:solidFill>
                <a:latin typeface="Aptos"/>
              </a:defRPr>
            </a:pPr>
            <a:r>
              <a:rPr sz="1500" dirty="0"/>
              <a:t>The portfolio ranks opportunities by funding amount, profile match and deadline urgency.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0FC7A98-751C-29BA-7AAA-A45E3A9E25DA}"/>
              </a:ext>
            </a:extLst>
          </p:cNvPr>
          <p:cNvGrpSpPr/>
          <p:nvPr/>
        </p:nvGrpSpPr>
        <p:grpSpPr>
          <a:xfrm>
            <a:off x="566928" y="2487166"/>
            <a:ext cx="5074920" cy="3456432"/>
            <a:chOff x="685800" y="1810512"/>
            <a:chExt cx="5074920" cy="3456432"/>
          </a:xfrm>
        </p:grpSpPr>
        <p:sp>
          <p:nvSpPr>
            <p:cNvPr id="8" name="Rounded Rectangle 7"/>
            <p:cNvSpPr/>
            <p:nvPr/>
          </p:nvSpPr>
          <p:spPr>
            <a:xfrm>
              <a:off x="685800" y="1810512"/>
              <a:ext cx="5074920" cy="34564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0E7E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32688" y="2057400"/>
              <a:ext cx="1188720" cy="310896"/>
            </a:xfrm>
            <a:prstGeom prst="roundRect">
              <a:avLst/>
            </a:prstGeom>
            <a:solidFill>
              <a:srgbClr val="4976D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32688" y="2071116"/>
              <a:ext cx="1188720" cy="2377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1">
                  <a:solidFill>
                    <a:srgbClr val="FFFFFF"/>
                  </a:solidFill>
                  <a:latin typeface="Aptos"/>
                </a:defRPr>
              </a:pPr>
              <a:r>
                <a:rPr dirty="0"/>
                <a:t>EV STRATEGY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32688" y="2542032"/>
              <a:ext cx="4572000" cy="47548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2200" b="1">
                  <a:solidFill>
                    <a:srgbClr val="182F3A"/>
                  </a:solidFill>
                  <a:latin typeface="Aptos"/>
                </a:defRPr>
              </a:pPr>
              <a:r>
                <a:rPr dirty="0"/>
                <a:t>EV = funding amount × match score × urgency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48233" y="3529584"/>
              <a:ext cx="4434840" cy="5232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200" b="0">
                  <a:solidFill>
                    <a:srgbClr val="5B6F77"/>
                  </a:solidFill>
                  <a:latin typeface="Aptos"/>
                </a:defRPr>
              </a:pPr>
              <a:r>
                <a:rPr sz="1400" dirty="0"/>
                <a:t>High-value opportunities can move ahead of lower-fit listings, even when both look attractive at first glance.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32688" y="4599432"/>
              <a:ext cx="4297680" cy="29260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50" b="1">
                  <a:solidFill>
                    <a:srgbClr val="189D97"/>
                  </a:solidFill>
                  <a:latin typeface="Aptos"/>
                </a:defRPr>
              </a:pPr>
              <a:r>
                <a:rPr sz="1300" dirty="0"/>
                <a:t>Goal: cover more of the gap with focused effort.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9973560-4592-AD1F-CDEB-BE7FC1EE5B5A}"/>
              </a:ext>
            </a:extLst>
          </p:cNvPr>
          <p:cNvGrpSpPr/>
          <p:nvPr/>
        </p:nvGrpSpPr>
        <p:grpSpPr>
          <a:xfrm>
            <a:off x="6400800" y="2523743"/>
            <a:ext cx="5413248" cy="3456432"/>
            <a:chOff x="6080760" y="1810512"/>
            <a:chExt cx="5413248" cy="3456432"/>
          </a:xfrm>
        </p:grpSpPr>
        <p:sp>
          <p:nvSpPr>
            <p:cNvPr id="14" name="Rounded Rectangle 13"/>
            <p:cNvSpPr/>
            <p:nvPr/>
          </p:nvSpPr>
          <p:spPr>
            <a:xfrm>
              <a:off x="6080760" y="1810512"/>
              <a:ext cx="5413248" cy="3456432"/>
            </a:xfrm>
            <a:prstGeom prst="roundRect">
              <a:avLst/>
            </a:prstGeom>
            <a:solidFill>
              <a:srgbClr val="0C2B3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00800" y="2057400"/>
              <a:ext cx="4389120" cy="2560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00" b="1">
                  <a:solidFill>
                    <a:srgbClr val="CFE7E0"/>
                  </a:solidFill>
                  <a:latin typeface="Aptos"/>
                </a:defRPr>
              </a:pPr>
              <a:r>
                <a:t>RANKED PORTFOLIO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0" y="2633472"/>
              <a:ext cx="4526280" cy="530352"/>
            </a:xfrm>
            <a:prstGeom prst="roundRect">
              <a:avLst/>
            </a:prstGeom>
            <a:solidFill>
              <a:srgbClr val="1237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601968" y="2761488"/>
              <a:ext cx="228600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50" b="1">
                  <a:solidFill>
                    <a:srgbClr val="FFFFFF"/>
                  </a:solidFill>
                  <a:latin typeface="Aptos"/>
                </a:defRPr>
              </a:pPr>
              <a:r>
                <a:rPr dirty="0"/>
                <a:t>Scholarship 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38360" y="2752344"/>
              <a:ext cx="96012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>
                <a:defRPr sz="1100" b="1">
                  <a:solidFill>
                    <a:srgbClr val="189D97"/>
                  </a:solidFill>
                  <a:latin typeface="Aptos"/>
                </a:defRPr>
              </a:pPr>
              <a:r>
                <a:t>₹60K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01968" y="3072384"/>
              <a:ext cx="3566160" cy="22860"/>
            </a:xfrm>
            <a:prstGeom prst="rect">
              <a:avLst/>
            </a:prstGeom>
            <a:solidFill>
              <a:srgbClr val="39586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400800" y="3383279"/>
              <a:ext cx="4526280" cy="530352"/>
            </a:xfrm>
            <a:prstGeom prst="roundRect">
              <a:avLst/>
            </a:prstGeom>
            <a:solidFill>
              <a:srgbClr val="1237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601968" y="3511296"/>
              <a:ext cx="228600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50" b="1">
                  <a:solidFill>
                    <a:srgbClr val="FFFFFF"/>
                  </a:solidFill>
                  <a:latin typeface="Aptos"/>
                </a:defRPr>
              </a:pPr>
              <a:r>
                <a:t>Grant B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738360" y="3502151"/>
              <a:ext cx="96012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>
                <a:defRPr sz="1100" b="1">
                  <a:solidFill>
                    <a:srgbClr val="4976DA"/>
                  </a:solidFill>
                  <a:latin typeface="Aptos"/>
                </a:defRPr>
              </a:pPr>
              <a:r>
                <a:t>₹45K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601968" y="3822191"/>
              <a:ext cx="3566160" cy="22860"/>
            </a:xfrm>
            <a:prstGeom prst="rect">
              <a:avLst/>
            </a:prstGeom>
            <a:solidFill>
              <a:srgbClr val="39586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400800" y="4133087"/>
              <a:ext cx="4526280" cy="530352"/>
            </a:xfrm>
            <a:prstGeom prst="roundRect">
              <a:avLst/>
            </a:prstGeom>
            <a:solidFill>
              <a:srgbClr val="1237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601968" y="4261103"/>
              <a:ext cx="228600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50" b="1">
                  <a:solidFill>
                    <a:srgbClr val="FFFFFF"/>
                  </a:solidFill>
                  <a:latin typeface="Aptos"/>
                </a:defRPr>
              </a:pPr>
              <a:r>
                <a:t>Fee waiver C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738360" y="4251959"/>
              <a:ext cx="96012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>
                <a:defRPr sz="1100" b="1">
                  <a:solidFill>
                    <a:srgbClr val="E8B14A"/>
                  </a:solidFill>
                  <a:latin typeface="Aptos"/>
                </a:defRPr>
              </a:pPr>
              <a:r>
                <a:t>₹30K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601968" y="4572000"/>
              <a:ext cx="3566160" cy="22860"/>
            </a:xfrm>
            <a:prstGeom prst="rect">
              <a:avLst/>
            </a:prstGeom>
            <a:solidFill>
              <a:srgbClr val="39586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400800" y="4956048"/>
              <a:ext cx="4572000" cy="21945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50" b="0">
                  <a:solidFill>
                    <a:srgbClr val="C7D8DC"/>
                  </a:solidFill>
                  <a:latin typeface="Aptos"/>
                </a:defRPr>
              </a:pPr>
              <a:r>
                <a:rPr dirty="0"/>
                <a:t>What-if controls recalculate the gap and portfolio.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7" y="384048"/>
            <a:ext cx="409651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89D97"/>
                </a:solidFill>
                <a:latin typeface="Aptos"/>
              </a:defRPr>
            </a:pPr>
            <a:r>
              <a:rPr sz="2800" dirty="0"/>
              <a:t>STRATEGY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5B6F7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1908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B6F77"/>
                </a:solidFill>
                <a:latin typeface="Aptos"/>
              </a:defRPr>
            </a:pPr>
            <a:r>
              <a:t>EDUFUND  /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7108" y="1085207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F3A"/>
                </a:solidFill>
                <a:latin typeface="Aptos"/>
              </a:defRPr>
            </a:pPr>
            <a:r>
              <a:rPr dirty="0"/>
              <a:t>Test the funding plan before committing effort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7108" y="1692792"/>
            <a:ext cx="10515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B6F77"/>
                </a:solidFill>
                <a:latin typeface="Aptos"/>
              </a:defRPr>
            </a:pPr>
            <a:r>
              <a:rPr sz="1500" dirty="0"/>
              <a:t>Real-time scenario controls show how changes affect the remaining gap and recommended portfolio.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E9518EF-1F92-581B-FBB4-04BF6381770E}"/>
              </a:ext>
            </a:extLst>
          </p:cNvPr>
          <p:cNvGrpSpPr/>
          <p:nvPr/>
        </p:nvGrpSpPr>
        <p:grpSpPr>
          <a:xfrm>
            <a:off x="594361" y="2217076"/>
            <a:ext cx="3749039" cy="3931920"/>
            <a:chOff x="685800" y="1810512"/>
            <a:chExt cx="3749039" cy="3931920"/>
          </a:xfrm>
        </p:grpSpPr>
        <p:sp>
          <p:nvSpPr>
            <p:cNvPr id="8" name="Rounded Rectangle 7"/>
            <p:cNvSpPr/>
            <p:nvPr/>
          </p:nvSpPr>
          <p:spPr>
            <a:xfrm>
              <a:off x="685800" y="1810512"/>
              <a:ext cx="3749039" cy="3931920"/>
            </a:xfrm>
            <a:prstGeom prst="roundRect">
              <a:avLst/>
            </a:prstGeom>
            <a:solidFill>
              <a:srgbClr val="E8F4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60120" y="2057400"/>
              <a:ext cx="315468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00" b="1">
                  <a:solidFill>
                    <a:srgbClr val="5B6F77"/>
                  </a:solidFill>
                  <a:latin typeface="Aptos"/>
                </a:defRPr>
              </a:pPr>
              <a:r>
                <a:t>WHAT-IF SCENARIOS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60120" y="2670048"/>
              <a:ext cx="3200400" cy="6035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0E7E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61288" y="2834640"/>
              <a:ext cx="1874519" cy="21945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50" b="1">
                  <a:solidFill>
                    <a:srgbClr val="182F3A"/>
                  </a:solidFill>
                  <a:latin typeface="Aptos"/>
                </a:defRPr>
              </a:pPr>
              <a:r>
                <a:t>Family contribution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26080" y="2834640"/>
              <a:ext cx="914400" cy="21945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>
                <a:defRPr sz="1050" b="1">
                  <a:solidFill>
                    <a:srgbClr val="189D97"/>
                  </a:solidFill>
                  <a:latin typeface="Aptos"/>
                </a:defRPr>
              </a:pPr>
              <a:r>
                <a:t>+ ₹15,000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60120" y="3511296"/>
              <a:ext cx="3200400" cy="6035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0E7E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61288" y="3675887"/>
              <a:ext cx="1874519" cy="21945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50" b="1">
                  <a:solidFill>
                    <a:srgbClr val="182F3A"/>
                  </a:solidFill>
                  <a:latin typeface="Aptos"/>
                </a:defRPr>
              </a:pPr>
              <a:r>
                <a:t>Work-study stipend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926080" y="3675887"/>
              <a:ext cx="914400" cy="21945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>
                <a:defRPr sz="1050" b="1">
                  <a:solidFill>
                    <a:srgbClr val="4976DA"/>
                  </a:solidFill>
                  <a:latin typeface="Aptos"/>
                </a:defRPr>
              </a:pPr>
              <a:r>
                <a:t>+ ₹20,000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60120" y="4352544"/>
              <a:ext cx="3200400" cy="6035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0E7E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61288" y="4517136"/>
              <a:ext cx="1874519" cy="21945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50" b="1">
                  <a:solidFill>
                    <a:srgbClr val="182F3A"/>
                  </a:solidFill>
                  <a:latin typeface="Aptos"/>
                </a:defRPr>
              </a:pPr>
              <a:r>
                <a:t>Confirmed aid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26080" y="4517136"/>
              <a:ext cx="914400" cy="21945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>
                <a:defRPr sz="1050" b="1">
                  <a:solidFill>
                    <a:srgbClr val="E8B14A"/>
                  </a:solidFill>
                  <a:latin typeface="Aptos"/>
                </a:defRPr>
              </a:pPr>
              <a:r>
                <a:t> + ₹10,000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60120" y="5257800"/>
              <a:ext cx="315468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50" b="1">
                  <a:solidFill>
                    <a:srgbClr val="189D97"/>
                  </a:solidFill>
                  <a:latin typeface="Aptos"/>
                </a:defRPr>
              </a:pPr>
              <a:r>
                <a:t>Change a value → recalculate.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08FD2DF-73A8-F669-97B4-9E0AB39DE6D5}"/>
              </a:ext>
            </a:extLst>
          </p:cNvPr>
          <p:cNvGrpSpPr/>
          <p:nvPr/>
        </p:nvGrpSpPr>
        <p:grpSpPr>
          <a:xfrm>
            <a:off x="4937761" y="2226219"/>
            <a:ext cx="6748272" cy="3931920"/>
            <a:chOff x="4754880" y="1810512"/>
            <a:chExt cx="6748272" cy="3931920"/>
          </a:xfrm>
        </p:grpSpPr>
        <p:sp>
          <p:nvSpPr>
            <p:cNvPr id="20" name="Rounded Rectangle 19"/>
            <p:cNvSpPr/>
            <p:nvPr/>
          </p:nvSpPr>
          <p:spPr>
            <a:xfrm>
              <a:off x="4754880" y="1810512"/>
              <a:ext cx="6748272" cy="39319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0E7E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074920" y="2057400"/>
              <a:ext cx="320040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00" b="1">
                  <a:solidFill>
                    <a:srgbClr val="5B6F77"/>
                  </a:solidFill>
                  <a:latin typeface="Aptos"/>
                </a:defRPr>
              </a:pPr>
              <a:r>
                <a:t>REMAINING GAP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74920" y="2441448"/>
              <a:ext cx="3200400" cy="5943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3100" b="1">
                  <a:solidFill>
                    <a:srgbClr val="EF674E"/>
                  </a:solidFill>
                  <a:latin typeface="Aptos"/>
                </a:defRPr>
              </a:pPr>
              <a:r>
                <a:rPr dirty="0"/>
                <a:t>₹1,70,000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74920" y="3246120"/>
              <a:ext cx="530352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00" b="1">
                  <a:solidFill>
                    <a:srgbClr val="5B6F77"/>
                  </a:solidFill>
                  <a:latin typeface="Aptos"/>
                </a:defRPr>
              </a:pPr>
              <a:r>
                <a:t>Gap coverage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074920" y="3602736"/>
              <a:ext cx="5440680" cy="274320"/>
            </a:xfrm>
            <a:prstGeom prst="roundRect">
              <a:avLst/>
            </a:prstGeom>
            <a:solidFill>
              <a:srgbClr val="E0E7E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074920" y="3602736"/>
              <a:ext cx="3429000" cy="274320"/>
            </a:xfrm>
            <a:prstGeom prst="roundRect">
              <a:avLst/>
            </a:prstGeom>
            <a:solidFill>
              <a:srgbClr val="189D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74920" y="4096512"/>
              <a:ext cx="530352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00" b="1">
                  <a:solidFill>
                    <a:srgbClr val="5B6F77"/>
                  </a:solidFill>
                  <a:latin typeface="Aptos"/>
                </a:defRPr>
              </a:pPr>
              <a:r>
                <a:t>Recommended portfolio updates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074920" y="4507992"/>
              <a:ext cx="347472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50" b="1">
                  <a:solidFill>
                    <a:srgbClr val="182F3A"/>
                  </a:solidFill>
                  <a:latin typeface="Aptos"/>
                </a:defRPr>
              </a:pPr>
              <a:r>
                <a:t>Scholarship A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966960" y="4489704"/>
              <a:ext cx="822960" cy="310896"/>
            </a:xfrm>
            <a:prstGeom prst="roundRect">
              <a:avLst/>
            </a:prstGeom>
            <a:solidFill>
              <a:srgbClr val="189D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966960" y="4503420"/>
              <a:ext cx="822960" cy="2377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1">
                  <a:solidFill>
                    <a:srgbClr val="FFFFFF"/>
                  </a:solidFill>
                  <a:latin typeface="Aptos"/>
                </a:defRPr>
              </a:pPr>
              <a:r>
                <a:t>HIGH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74920" y="4892040"/>
              <a:ext cx="347472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50" b="1">
                  <a:solidFill>
                    <a:srgbClr val="182F3A"/>
                  </a:solidFill>
                  <a:latin typeface="Aptos"/>
                </a:defRPr>
              </a:pPr>
              <a:r>
                <a:t>Grant B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966960" y="4873752"/>
              <a:ext cx="822960" cy="310896"/>
            </a:xfrm>
            <a:prstGeom prst="roundRect">
              <a:avLst/>
            </a:prstGeom>
            <a:solidFill>
              <a:srgbClr val="4976D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966960" y="4887468"/>
              <a:ext cx="822960" cy="2377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1">
                  <a:solidFill>
                    <a:srgbClr val="FFFFFF"/>
                  </a:solidFill>
                  <a:latin typeface="Aptos"/>
                </a:defRPr>
              </a:pPr>
              <a:r>
                <a:t>MEDIUM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74920" y="5276088"/>
              <a:ext cx="347472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50" b="1">
                  <a:solidFill>
                    <a:srgbClr val="182F3A"/>
                  </a:solidFill>
                  <a:latin typeface="Aptos"/>
                </a:defRPr>
              </a:pPr>
              <a:r>
                <a:t>Fee waiver C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9966960" y="5257800"/>
              <a:ext cx="822960" cy="310896"/>
            </a:xfrm>
            <a:prstGeom prst="roundRect">
              <a:avLst/>
            </a:prstGeom>
            <a:solidFill>
              <a:srgbClr val="4976D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966960" y="5271516"/>
              <a:ext cx="822960" cy="2377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1">
                  <a:solidFill>
                    <a:srgbClr val="FFFFFF"/>
                  </a:solidFill>
                  <a:latin typeface="Aptos"/>
                </a:defRPr>
              </a:pPr>
              <a:r>
                <a:t>MEDIUM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7148" y="350519"/>
            <a:ext cx="483786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89D97"/>
                </a:solidFill>
                <a:latin typeface="Aptos"/>
              </a:defRPr>
            </a:pPr>
            <a:r>
              <a:rPr sz="2800" dirty="0"/>
              <a:t>APPLICATION AUTOPILOT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7E969D"/>
                </a:solidFill>
                <a:latin typeface="Aptos"/>
              </a:defRPr>
            </a:pPr>
            <a:r>
              <a:rPr>
                <a:solidFill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1908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E969D"/>
                </a:solidFill>
                <a:latin typeface="Aptos"/>
              </a:defRPr>
            </a:pPr>
            <a:r>
              <a:rPr>
                <a:solidFill/>
              </a:rPr>
              <a:t>EDUFUND  /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3215" y="1017675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F3A"/>
                </a:solidFill>
                <a:latin typeface="Aptos"/>
              </a:defRPr>
            </a:pPr>
            <a:r>
              <a:rPr dirty="0">
                <a:solidFill/>
              </a:rPr>
              <a:t>Preparation gets faster. Submission remains human.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3987" y="1551037"/>
            <a:ext cx="10515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C5D6DB"/>
                </a:solidFill>
                <a:latin typeface="Aptos"/>
              </a:defRPr>
            </a:pPr>
            <a:r>
              <a:rPr sz="1500" dirty="0">
                <a:solidFill/>
              </a:rPr>
              <a:t>The studio drafts, checks and prepares — then puts review before </a:t>
            </a:r>
            <a:r>
              <a:rPr sz="1500" dirty="0" err="1">
                <a:solidFill/>
              </a:rPr>
              <a:t>finalisation</a:t>
            </a:r>
            <a:r>
              <a:rPr sz="1500" dirty="0">
                <a:solidFill/>
              </a:rPr>
              <a:t>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8F33A58-F46E-6A78-23BA-D24EBB1E5879}"/>
              </a:ext>
            </a:extLst>
          </p:cNvPr>
          <p:cNvGrpSpPr/>
          <p:nvPr/>
        </p:nvGrpSpPr>
        <p:grpSpPr>
          <a:xfrm>
            <a:off x="658368" y="2098548"/>
            <a:ext cx="2542032" cy="3246120"/>
            <a:chOff x="658368" y="1874519"/>
            <a:chExt cx="2542032" cy="3246120"/>
          </a:xfrm>
        </p:grpSpPr>
        <p:sp>
          <p:nvSpPr>
            <p:cNvPr id="8" name="Rounded Rectangle 7"/>
            <p:cNvSpPr/>
            <p:nvPr/>
          </p:nvSpPr>
          <p:spPr>
            <a:xfrm>
              <a:off x="658368" y="1874519"/>
              <a:ext cx="2542032" cy="32461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5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/>
            </a:p>
          </p:txBody>
        </p:sp>
        <p:sp>
          <p:nvSpPr>
            <p:cNvPr id="9" name="Oval 8"/>
            <p:cNvSpPr/>
            <p:nvPr/>
          </p:nvSpPr>
          <p:spPr>
            <a:xfrm>
              <a:off x="749808" y="1993391"/>
              <a:ext cx="438912" cy="438912"/>
            </a:xfrm>
            <a:prstGeom prst="ellipse">
              <a:avLst/>
            </a:prstGeom>
            <a:solidFill>
              <a:srgbClr val="4976D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95528" y="2086609"/>
              <a:ext cx="1554480" cy="20116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850" b="1">
                  <a:solidFill>
                    <a:srgbClr val="189D97"/>
                  </a:solidFill>
                  <a:latin typeface="Aptos"/>
                </a:defRPr>
              </a:pPr>
              <a:r>
                <a:rPr dirty="0">
                  <a:solidFill/>
                </a:rPr>
                <a:t>01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14400" y="2724912"/>
              <a:ext cx="2011680" cy="47548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300" b="1">
                  <a:solidFill>
                    <a:srgbClr val="182F3A"/>
                  </a:solidFill>
                  <a:latin typeface="Aptos"/>
                </a:defRPr>
              </a:pPr>
              <a:r>
                <a:rPr>
                  <a:solidFill/>
                </a:rPr>
                <a:t>OPPORTUNITY PROMPT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" y="3401568"/>
              <a:ext cx="2011680" cy="113877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19" b="0">
                  <a:solidFill>
                    <a:srgbClr val="C6D8DD"/>
                  </a:solidFill>
                  <a:latin typeface="Aptos"/>
                </a:defRPr>
              </a:pPr>
              <a:r>
                <a:rPr sz="1700" dirty="0">
                  <a:solidFill/>
                </a:rPr>
                <a:t>Uses the selected </a:t>
              </a:r>
              <a:r>
                <a:rPr sz="1700" dirty="0" err="1">
                  <a:solidFill/>
                </a:rPr>
                <a:t>programme's</a:t>
              </a:r>
              <a:r>
                <a:rPr sz="1700" dirty="0">
                  <a:solidFill/>
                </a:rPr>
                <a:t> essay prompt and document list.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9059D47-371B-3155-DB2C-EE8B0D8A4FDD}"/>
              </a:ext>
            </a:extLst>
          </p:cNvPr>
          <p:cNvGrpSpPr/>
          <p:nvPr/>
        </p:nvGrpSpPr>
        <p:grpSpPr>
          <a:xfrm>
            <a:off x="3493008" y="2098548"/>
            <a:ext cx="2542032" cy="3246120"/>
            <a:chOff x="3493008" y="1874519"/>
            <a:chExt cx="2542032" cy="3246120"/>
          </a:xfrm>
        </p:grpSpPr>
        <p:sp>
          <p:nvSpPr>
            <p:cNvPr id="13" name="Rounded Rectangle 12"/>
            <p:cNvSpPr/>
            <p:nvPr/>
          </p:nvSpPr>
          <p:spPr>
            <a:xfrm>
              <a:off x="3493008" y="1874519"/>
              <a:ext cx="2542032" cy="32461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5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/>
            </a:p>
          </p:txBody>
        </p:sp>
        <p:sp>
          <p:nvSpPr>
            <p:cNvPr id="14" name="Oval 13"/>
            <p:cNvSpPr/>
            <p:nvPr/>
          </p:nvSpPr>
          <p:spPr>
            <a:xfrm>
              <a:off x="3584448" y="1993391"/>
              <a:ext cx="438912" cy="438912"/>
            </a:xfrm>
            <a:prstGeom prst="ellipse">
              <a:avLst/>
            </a:prstGeom>
            <a:solidFill>
              <a:srgbClr val="189D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67760" y="2086609"/>
              <a:ext cx="1554480" cy="20116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850" b="1">
                  <a:solidFill>
                    <a:srgbClr val="189D97"/>
                  </a:solidFill>
                  <a:latin typeface="Aptos"/>
                </a:defRPr>
              </a:pPr>
              <a:r>
                <a:rPr dirty="0">
                  <a:solidFill/>
                </a:rPr>
                <a:t>02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49040" y="2724912"/>
              <a:ext cx="2011680" cy="47548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300" b="1">
                  <a:solidFill>
                    <a:srgbClr val="182F3A"/>
                  </a:solidFill>
                  <a:latin typeface="Aptos"/>
                </a:defRPr>
              </a:pPr>
              <a:r>
                <a:rPr>
                  <a:solidFill/>
                </a:rPr>
                <a:t>TAILORED DRAFT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749040" y="3401568"/>
              <a:ext cx="2011680" cy="113877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19" b="0">
                  <a:solidFill>
                    <a:srgbClr val="C6D8DD"/>
                  </a:solidFill>
                  <a:latin typeface="Aptos"/>
                </a:defRPr>
              </a:pPr>
              <a:r>
                <a:rPr sz="1700" dirty="0">
                  <a:solidFill/>
                </a:rPr>
                <a:t>Builds a response using profile information and student edits.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DC162E8-9BCE-D7EE-C0CA-1EA1DEB86936}"/>
              </a:ext>
            </a:extLst>
          </p:cNvPr>
          <p:cNvGrpSpPr/>
          <p:nvPr/>
        </p:nvGrpSpPr>
        <p:grpSpPr>
          <a:xfrm>
            <a:off x="6327648" y="2098548"/>
            <a:ext cx="2542032" cy="3246120"/>
            <a:chOff x="6327648" y="1874519"/>
            <a:chExt cx="2542032" cy="3246120"/>
          </a:xfrm>
        </p:grpSpPr>
        <p:sp>
          <p:nvSpPr>
            <p:cNvPr id="18" name="Rounded Rectangle 17"/>
            <p:cNvSpPr/>
            <p:nvPr/>
          </p:nvSpPr>
          <p:spPr>
            <a:xfrm>
              <a:off x="6327648" y="1874519"/>
              <a:ext cx="2542032" cy="32461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5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/>
            </a:p>
          </p:txBody>
        </p:sp>
        <p:sp>
          <p:nvSpPr>
            <p:cNvPr id="19" name="Oval 18"/>
            <p:cNvSpPr/>
            <p:nvPr/>
          </p:nvSpPr>
          <p:spPr>
            <a:xfrm>
              <a:off x="6419088" y="1993391"/>
              <a:ext cx="438912" cy="438912"/>
            </a:xfrm>
            <a:prstGeom prst="ellipse">
              <a:avLst/>
            </a:prstGeom>
            <a:solidFill>
              <a:srgbClr val="E8B1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64808" y="2098548"/>
              <a:ext cx="1554480" cy="20116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850" b="1">
                  <a:solidFill>
                    <a:srgbClr val="189D97"/>
                  </a:solidFill>
                  <a:latin typeface="Aptos"/>
                </a:defRPr>
              </a:pPr>
              <a:r>
                <a:rPr dirty="0">
                  <a:solidFill/>
                </a:rPr>
                <a:t>03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583680" y="2724912"/>
              <a:ext cx="2011680" cy="47548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300" b="1">
                  <a:solidFill>
                    <a:srgbClr val="182F3A"/>
                  </a:solidFill>
                  <a:latin typeface="Aptos"/>
                </a:defRPr>
              </a:pPr>
              <a:r>
                <a:rPr dirty="0">
                  <a:solidFill/>
                </a:rPr>
                <a:t>TONE REFINEMENT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583680" y="3401568"/>
              <a:ext cx="2011680" cy="87716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19" b="0">
                  <a:solidFill>
                    <a:srgbClr val="C6D8DD"/>
                  </a:solidFill>
                  <a:latin typeface="Aptos"/>
                </a:defRPr>
              </a:pPr>
              <a:r>
                <a:rPr sz="1700" dirty="0">
                  <a:solidFill/>
                </a:rPr>
                <a:t>Concise </a:t>
              </a:r>
              <a:endParaRPr lang="en-IN" sz="1700" dirty="0">
                <a:solidFill/>
              </a:endParaRPr>
            </a:p>
            <a:p>
              <a:pPr algn="l">
                <a:defRPr sz="1019" b="0">
                  <a:solidFill>
                    <a:srgbClr val="C6D8DD"/>
                  </a:solidFill>
                  <a:latin typeface="Aptos"/>
                </a:defRPr>
              </a:pPr>
              <a:r>
                <a:rPr sz="1700" dirty="0">
                  <a:solidFill/>
                </a:rPr>
                <a:t>persuasive  academic rewrites.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381861A-8903-37A5-1393-6A5032922424}"/>
              </a:ext>
            </a:extLst>
          </p:cNvPr>
          <p:cNvGrpSpPr/>
          <p:nvPr/>
        </p:nvGrpSpPr>
        <p:grpSpPr>
          <a:xfrm>
            <a:off x="9162288" y="2098548"/>
            <a:ext cx="2542032" cy="3246120"/>
            <a:chOff x="9162288" y="1874519"/>
            <a:chExt cx="2542032" cy="3246120"/>
          </a:xfrm>
        </p:grpSpPr>
        <p:sp>
          <p:nvSpPr>
            <p:cNvPr id="23" name="Rounded Rectangle 22"/>
            <p:cNvSpPr/>
            <p:nvPr/>
          </p:nvSpPr>
          <p:spPr>
            <a:xfrm>
              <a:off x="9162288" y="1874519"/>
              <a:ext cx="2542032" cy="32461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5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/>
            </a:p>
          </p:txBody>
        </p:sp>
        <p:sp>
          <p:nvSpPr>
            <p:cNvPr id="24" name="Oval 23"/>
            <p:cNvSpPr/>
            <p:nvPr/>
          </p:nvSpPr>
          <p:spPr>
            <a:xfrm>
              <a:off x="9253728" y="1993391"/>
              <a:ext cx="438912" cy="438912"/>
            </a:xfrm>
            <a:prstGeom prst="ellipse">
              <a:avLst/>
            </a:prstGeom>
            <a:solidFill>
              <a:srgbClr val="EF67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326880" y="2086609"/>
              <a:ext cx="1554480" cy="20116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850" b="1">
                  <a:solidFill>
                    <a:srgbClr val="189D97"/>
                  </a:solidFill>
                  <a:latin typeface="Aptos"/>
                </a:defRPr>
              </a:pPr>
              <a:r>
                <a:rPr dirty="0">
                  <a:solidFill/>
                </a:rPr>
                <a:t>04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418320" y="2724912"/>
              <a:ext cx="2011680" cy="47548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300" b="1">
                  <a:solidFill>
                    <a:srgbClr val="182F3A"/>
                  </a:solidFill>
                  <a:latin typeface="Aptos"/>
                </a:defRPr>
              </a:pPr>
              <a:r>
                <a:rPr>
                  <a:solidFill/>
                </a:rPr>
                <a:t>STUDENT AUTHORISATION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418320" y="3401568"/>
              <a:ext cx="2011680" cy="113877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19" b="0">
                  <a:solidFill>
                    <a:srgbClr val="C6D8DD"/>
                  </a:solidFill>
                  <a:latin typeface="Aptos"/>
                </a:defRPr>
              </a:pPr>
              <a:r>
                <a:rPr sz="1700" dirty="0">
                  <a:solidFill/>
                </a:rPr>
                <a:t>Review the final packet before visiting the official portal.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9B0B231-52CC-A8DD-253E-9EAE54CBC0B8}"/>
              </a:ext>
            </a:extLst>
          </p:cNvPr>
          <p:cNvGrpSpPr/>
          <p:nvPr/>
        </p:nvGrpSpPr>
        <p:grpSpPr>
          <a:xfrm>
            <a:off x="914400" y="5749570"/>
            <a:ext cx="1920238" cy="310896"/>
            <a:chOff x="914401" y="5504688"/>
            <a:chExt cx="1920238" cy="310896"/>
          </a:xfrm>
        </p:grpSpPr>
        <p:sp>
          <p:nvSpPr>
            <p:cNvPr id="28" name="Rounded Rectangle 27"/>
            <p:cNvSpPr/>
            <p:nvPr/>
          </p:nvSpPr>
          <p:spPr>
            <a:xfrm>
              <a:off x="960120" y="5504688"/>
              <a:ext cx="1874519" cy="310896"/>
            </a:xfrm>
            <a:prstGeom prst="roundRect">
              <a:avLst/>
            </a:prstGeom>
            <a:solidFill>
              <a:srgbClr val="EF67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14401" y="5534126"/>
              <a:ext cx="1767840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1">
                  <a:solidFill>
                    <a:srgbClr val="182F3A"/>
                  </a:solidFill>
                  <a:latin typeface="Aptos"/>
                </a:defRPr>
              </a:pPr>
              <a:r>
                <a:rPr dirty="0">
                  <a:solidFill/>
                </a:rPr>
                <a:t>HUMAN SAFETY REVIEW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3077300" y="5701844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82F3A"/>
                </a:solidFill>
                <a:latin typeface="Aptos"/>
              </a:defRPr>
            </a:pPr>
            <a:r>
              <a:rPr sz="1300" dirty="0" err="1">
                <a:solidFill/>
              </a:rPr>
              <a:t>EduFund</a:t>
            </a:r>
            <a:r>
              <a:rPr sz="1300" dirty="0">
                <a:solidFill/>
              </a:rPr>
              <a:t> never submits forms or financial documents without explicit student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7" y="384048"/>
            <a:ext cx="462155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89D97"/>
                </a:solidFill>
                <a:latin typeface="Aptos"/>
              </a:defRPr>
            </a:pPr>
            <a:r>
              <a:rPr sz="2800" dirty="0"/>
              <a:t>APPLICATION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5B6F7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1908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B6F77"/>
                </a:solidFill>
                <a:latin typeface="Aptos"/>
              </a:defRPr>
            </a:pPr>
            <a:r>
              <a:t>EDUFUND  /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9876" y="1049497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F3A"/>
                </a:solidFill>
                <a:latin typeface="Aptos"/>
              </a:defRPr>
            </a:pPr>
            <a:r>
              <a:rPr dirty="0"/>
              <a:t>Evidence before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6095" y="1732866"/>
            <a:ext cx="10515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B6F77"/>
                </a:solidFill>
                <a:latin typeface="Aptos"/>
              </a:defRPr>
            </a:pPr>
            <a:r>
              <a:rPr sz="1500" dirty="0"/>
              <a:t>The system checks what the draft says against what the student's profile and documents can support.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698F6E8-937F-F896-9B51-E32D32D0F64B}"/>
              </a:ext>
            </a:extLst>
          </p:cNvPr>
          <p:cNvGrpSpPr/>
          <p:nvPr/>
        </p:nvGrpSpPr>
        <p:grpSpPr>
          <a:xfrm>
            <a:off x="492252" y="2653605"/>
            <a:ext cx="5183124" cy="2782473"/>
            <a:chOff x="676656" y="1783080"/>
            <a:chExt cx="5183124" cy="2782473"/>
          </a:xfrm>
        </p:grpSpPr>
        <p:sp>
          <p:nvSpPr>
            <p:cNvPr id="8" name="Rounded Rectangle 7"/>
            <p:cNvSpPr/>
            <p:nvPr/>
          </p:nvSpPr>
          <p:spPr>
            <a:xfrm>
              <a:off x="685800" y="1783080"/>
              <a:ext cx="5173980" cy="2782473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5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86968" y="1947672"/>
              <a:ext cx="4864607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400" b="1">
                  <a:solidFill>
                    <a:srgbClr val="182F3A"/>
                  </a:solidFill>
                  <a:latin typeface="Aptos"/>
                </a:defRPr>
              </a:pPr>
              <a:r>
                <a:rPr dirty="0"/>
                <a:t>ESSAY EVIDENCE CHECKER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274C64E-E514-FD3A-9A3F-26FF204810F6}"/>
                </a:ext>
              </a:extLst>
            </p:cNvPr>
            <p:cNvGrpSpPr/>
            <p:nvPr/>
          </p:nvGrpSpPr>
          <p:grpSpPr>
            <a:xfrm>
              <a:off x="676656" y="2179321"/>
              <a:ext cx="5074919" cy="1996440"/>
              <a:chOff x="676656" y="2179321"/>
              <a:chExt cx="5074919" cy="199644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76656" y="2179321"/>
                <a:ext cx="68580" cy="1996440"/>
              </a:xfrm>
              <a:prstGeom prst="rect">
                <a:avLst/>
              </a:prstGeom>
              <a:solidFill>
                <a:srgbClr val="189D9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886968" y="2395728"/>
                <a:ext cx="4864607" cy="170816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080" b="0">
                    <a:solidFill>
                      <a:srgbClr val="5B6F77"/>
                    </a:solidFill>
                    <a:latin typeface="Aptos"/>
                  </a:defRPr>
                </a:pPr>
                <a:r>
                  <a:rPr sz="1500" dirty="0"/>
                  <a:t>Supported profile facts</a:t>
                </a:r>
                <a:br>
                  <a:rPr sz="1500" dirty="0"/>
                </a:br>
                <a:br>
                  <a:rPr sz="1500" dirty="0"/>
                </a:br>
                <a:r>
                  <a:rPr sz="1500" dirty="0"/>
                  <a:t>Course, GPA, achievements and interests</a:t>
                </a:r>
                <a:br>
                  <a:rPr sz="1500" dirty="0"/>
                </a:br>
                <a:br>
                  <a:rPr sz="1500" dirty="0"/>
                </a:br>
                <a:r>
                  <a:rPr sz="1500" dirty="0"/>
                  <a:t>Claims to review</a:t>
                </a:r>
                <a:br>
                  <a:rPr sz="1500" dirty="0"/>
                </a:br>
                <a:br>
                  <a:rPr sz="1500" dirty="0"/>
                </a:br>
                <a:r>
                  <a:rPr sz="1500" dirty="0"/>
                  <a:t>Strong statements that do not appear in the saved profile</a:t>
                </a: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5C51314-6C50-2E4A-AF75-71181500FCF0}"/>
              </a:ext>
            </a:extLst>
          </p:cNvPr>
          <p:cNvGrpSpPr/>
          <p:nvPr/>
        </p:nvGrpSpPr>
        <p:grpSpPr>
          <a:xfrm>
            <a:off x="6355078" y="2467501"/>
            <a:ext cx="5093208" cy="3154680"/>
            <a:chOff x="6263640" y="1783081"/>
            <a:chExt cx="5093208" cy="3154680"/>
          </a:xfrm>
        </p:grpSpPr>
        <p:sp>
          <p:nvSpPr>
            <p:cNvPr id="12" name="Rounded Rectangle 11"/>
            <p:cNvSpPr/>
            <p:nvPr/>
          </p:nvSpPr>
          <p:spPr>
            <a:xfrm>
              <a:off x="6263640" y="1783081"/>
              <a:ext cx="5093208" cy="31546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5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63640" y="2179321"/>
              <a:ext cx="59436" cy="2278379"/>
            </a:xfrm>
            <a:prstGeom prst="rect">
              <a:avLst/>
            </a:prstGeom>
            <a:solidFill>
              <a:srgbClr val="4976D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64807" y="1947672"/>
              <a:ext cx="4864607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400" b="1">
                  <a:solidFill>
                    <a:srgbClr val="182F3A"/>
                  </a:solidFill>
                  <a:latin typeface="Aptos"/>
                </a:defRPr>
              </a:pPr>
              <a:r>
                <a:rPr dirty="0"/>
                <a:t>DOCUMENT AUDITOR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64807" y="2395728"/>
              <a:ext cx="4864607" cy="216982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80" b="0">
                  <a:solidFill>
                    <a:srgbClr val="5B6F77"/>
                  </a:solidFill>
                  <a:latin typeface="Aptos"/>
                </a:defRPr>
              </a:pPr>
              <a:r>
                <a:rPr sz="1500" dirty="0"/>
                <a:t>Required evidence</a:t>
              </a:r>
              <a:br>
                <a:rPr sz="1500" dirty="0"/>
              </a:br>
              <a:br>
                <a:rPr sz="1500" dirty="0"/>
              </a:br>
              <a:r>
                <a:rPr sz="1500" dirty="0"/>
                <a:t>• Marksheets</a:t>
              </a:r>
              <a:br>
                <a:rPr sz="1500" dirty="0"/>
              </a:br>
              <a:r>
                <a:rPr sz="1500" dirty="0"/>
                <a:t>• Income proof</a:t>
              </a:r>
              <a:br>
                <a:rPr sz="1500" dirty="0"/>
              </a:br>
              <a:r>
                <a:rPr sz="1500" dirty="0"/>
                <a:t>• Letters</a:t>
              </a:r>
              <a:br>
                <a:rPr sz="1500" dirty="0"/>
              </a:br>
              <a:r>
                <a:rPr sz="1500" dirty="0"/>
                <a:t>• </a:t>
              </a:r>
              <a:r>
                <a:rPr sz="1500" dirty="0" err="1"/>
                <a:t>Programme</a:t>
              </a:r>
              <a:r>
                <a:rPr sz="1500" dirty="0"/>
                <a:t>-specific evidence</a:t>
              </a:r>
              <a:br>
                <a:rPr sz="1500" dirty="0"/>
              </a:br>
              <a:br>
                <a:rPr sz="1500" dirty="0"/>
              </a:br>
              <a:r>
                <a:rPr sz="1500" dirty="0"/>
                <a:t>Readiness result: missing items are surfaced before the provider form.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56387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89D97"/>
                </a:solidFill>
                <a:latin typeface="Aptos"/>
              </a:defRPr>
            </a:pPr>
            <a:r>
              <a:rPr sz="2800" dirty="0"/>
              <a:t>PIPELINE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5B6F7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1908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B6F77"/>
                </a:solidFill>
                <a:latin typeface="Aptos"/>
              </a:defRPr>
            </a:pPr>
            <a:r>
              <a:t>EDUFUND  /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4889" y="1008344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F3A"/>
                </a:solidFill>
                <a:latin typeface="Aptos"/>
              </a:defRPr>
            </a:pPr>
            <a:r>
              <a:rPr dirty="0"/>
              <a:t>One document can unlock several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4889" y="1552918"/>
            <a:ext cx="10515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B6F77"/>
                </a:solidFill>
                <a:latin typeface="Aptos"/>
              </a:defRPr>
            </a:pPr>
            <a:r>
              <a:rPr sz="1500" dirty="0"/>
              <a:t>The pipeline identifies reusable evidence and deadline windows that need attention first.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30C7B82-0B6E-1236-3767-CB63F49BB916}"/>
              </a:ext>
            </a:extLst>
          </p:cNvPr>
          <p:cNvGrpSpPr/>
          <p:nvPr/>
        </p:nvGrpSpPr>
        <p:grpSpPr>
          <a:xfrm>
            <a:off x="530352" y="2243836"/>
            <a:ext cx="5230368" cy="3886200"/>
            <a:chOff x="706120" y="1820672"/>
            <a:chExt cx="5230368" cy="3886200"/>
          </a:xfrm>
        </p:grpSpPr>
        <p:sp>
          <p:nvSpPr>
            <p:cNvPr id="8" name="Rounded Rectangle 7"/>
            <p:cNvSpPr/>
            <p:nvPr/>
          </p:nvSpPr>
          <p:spPr>
            <a:xfrm>
              <a:off x="706120" y="1820672"/>
              <a:ext cx="5230368" cy="3886200"/>
            </a:xfrm>
            <a:prstGeom prst="roundRect">
              <a:avLst/>
            </a:prstGeom>
            <a:solidFill>
              <a:srgbClr val="E8F4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60120" y="2057400"/>
              <a:ext cx="4389120" cy="3231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00" b="1">
                  <a:solidFill>
                    <a:srgbClr val="5B6F77"/>
                  </a:solidFill>
                  <a:latin typeface="Aptos"/>
                </a:defRPr>
              </a:pPr>
              <a:r>
                <a:rPr sz="1500" dirty="0"/>
                <a:t>DOCUMENT REUSE MAP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216152" y="3410712"/>
              <a:ext cx="768096" cy="768096"/>
            </a:xfrm>
            <a:prstGeom prst="ellipse">
              <a:avLst/>
            </a:prstGeom>
            <a:solidFill>
              <a:srgbClr val="189D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83056" y="4263644"/>
              <a:ext cx="109728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000" b="1">
                  <a:solidFill>
                    <a:srgbClr val="182F3A"/>
                  </a:solidFill>
                  <a:latin typeface="Aptos"/>
                </a:defRPr>
              </a:pPr>
              <a:r>
                <a:rPr dirty="0"/>
                <a:t>Income</a:t>
              </a:r>
              <a:br>
                <a:rPr dirty="0"/>
              </a:br>
              <a:r>
                <a:rPr dirty="0"/>
                <a:t>proof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2843784" y="2615184"/>
              <a:ext cx="621792" cy="621792"/>
            </a:xfrm>
            <a:prstGeom prst="ellipse">
              <a:avLst/>
            </a:prstGeom>
            <a:solidFill>
              <a:srgbClr val="4976D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843784" y="3264408"/>
              <a:ext cx="118872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880" b="1">
                  <a:solidFill>
                    <a:srgbClr val="182F3A"/>
                  </a:solidFill>
                  <a:latin typeface="Aptos"/>
                </a:defRPr>
              </a:pPr>
              <a:r>
                <a:rPr dirty="0"/>
                <a:t>Scholarship A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 flipV="1">
              <a:off x="1938528" y="2926080"/>
              <a:ext cx="896112" cy="868680"/>
            </a:xfrm>
            <a:prstGeom prst="line">
              <a:avLst/>
            </a:prstGeom>
            <a:ln w="17780">
              <a:solidFill>
                <a:srgbClr val="4976D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4032504" y="3483864"/>
              <a:ext cx="621792" cy="621792"/>
            </a:xfrm>
            <a:prstGeom prst="ellipse">
              <a:avLst/>
            </a:prstGeom>
            <a:solidFill>
              <a:srgbClr val="E8B1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49039" y="4270248"/>
              <a:ext cx="118872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880" b="1">
                  <a:solidFill>
                    <a:srgbClr val="182F3A"/>
                  </a:solidFill>
                  <a:latin typeface="Aptos"/>
                </a:defRPr>
              </a:pPr>
              <a:r>
                <a:t>Scholarship B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1938528" y="3794760"/>
              <a:ext cx="2084832" cy="0"/>
            </a:xfrm>
            <a:prstGeom prst="line">
              <a:avLst/>
            </a:prstGeom>
            <a:ln w="17780">
              <a:solidFill>
                <a:srgbClr val="E8B14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/>
            <p:cNvSpPr/>
            <p:nvPr/>
          </p:nvSpPr>
          <p:spPr>
            <a:xfrm>
              <a:off x="2843784" y="4352544"/>
              <a:ext cx="621792" cy="621792"/>
            </a:xfrm>
            <a:prstGeom prst="ellipse">
              <a:avLst/>
            </a:prstGeom>
            <a:solidFill>
              <a:srgbClr val="EF67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940304" y="4962067"/>
              <a:ext cx="118872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880" b="1">
                  <a:solidFill>
                    <a:srgbClr val="182F3A"/>
                  </a:solidFill>
                  <a:latin typeface="Aptos"/>
                </a:defRPr>
              </a:pPr>
              <a:r>
                <a:t>Fee waiver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1938528" y="3794760"/>
              <a:ext cx="896112" cy="868680"/>
            </a:xfrm>
            <a:prstGeom prst="line">
              <a:avLst/>
            </a:prstGeom>
            <a:ln w="17780">
              <a:solidFill>
                <a:srgbClr val="EF674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1083056" y="5292474"/>
              <a:ext cx="4480560" cy="29238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50" b="1">
                  <a:solidFill>
                    <a:srgbClr val="189D97"/>
                  </a:solidFill>
                  <a:latin typeface="Aptos"/>
                </a:defRPr>
              </a:pPr>
              <a:r>
                <a:rPr sz="1300" dirty="0"/>
                <a:t>One prepared document → several active requirements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8D3BC23-6D60-16DE-CCF8-AA13345EE94E}"/>
              </a:ext>
            </a:extLst>
          </p:cNvPr>
          <p:cNvGrpSpPr/>
          <p:nvPr/>
        </p:nvGrpSpPr>
        <p:grpSpPr>
          <a:xfrm>
            <a:off x="6263640" y="2148840"/>
            <a:ext cx="5230368" cy="3886200"/>
            <a:chOff x="6263640" y="1810512"/>
            <a:chExt cx="5230368" cy="3886200"/>
          </a:xfrm>
        </p:grpSpPr>
        <p:sp>
          <p:nvSpPr>
            <p:cNvPr id="22" name="Rounded Rectangle 21"/>
            <p:cNvSpPr/>
            <p:nvPr/>
          </p:nvSpPr>
          <p:spPr>
            <a:xfrm>
              <a:off x="6263640" y="1810512"/>
              <a:ext cx="5230368" cy="3886200"/>
            </a:xfrm>
            <a:prstGeom prst="roundRect">
              <a:avLst/>
            </a:prstGeom>
            <a:solidFill>
              <a:srgbClr val="FCED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537960" y="2057400"/>
              <a:ext cx="4389120" cy="3231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00" b="1">
                  <a:solidFill>
                    <a:srgbClr val="5B6F77"/>
                  </a:solidFill>
                  <a:latin typeface="Aptos"/>
                </a:defRPr>
              </a:pPr>
              <a:r>
                <a:rPr sz="1500" dirty="0"/>
                <a:t>DEADLINE COLLISION DETECTOR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537960" y="2578608"/>
              <a:ext cx="438912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2700" b="1">
                  <a:solidFill>
                    <a:srgbClr val="EF674E"/>
                  </a:solidFill>
                  <a:latin typeface="Aptos"/>
                </a:defRPr>
              </a:pPr>
              <a:r>
                <a:t>7 days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772400" y="2679192"/>
              <a:ext cx="237744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50" b="0">
                  <a:solidFill>
                    <a:srgbClr val="5B6F77"/>
                  </a:solidFill>
                  <a:latin typeface="Aptos"/>
                </a:defRPr>
              </a:pPr>
              <a:r>
                <a:rPr sz="1200" dirty="0"/>
                <a:t>before the closest deadline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537960" y="3273552"/>
              <a:ext cx="4526280" cy="438912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20840" y="3383280"/>
              <a:ext cx="2423160" cy="21031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80" b="1">
                  <a:solidFill>
                    <a:srgbClr val="182F3A"/>
                  </a:solidFill>
                  <a:latin typeface="Aptos"/>
                </a:defRPr>
              </a:pPr>
              <a:r>
                <a:t>Scholarship 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189720" y="3383280"/>
              <a:ext cx="1417320" cy="21031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>
                <a:defRPr sz="980" b="1">
                  <a:solidFill>
                    <a:srgbClr val="EF674E"/>
                  </a:solidFill>
                  <a:latin typeface="Aptos"/>
                </a:defRPr>
              </a:pPr>
              <a:r>
                <a:t>Sep 28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537960" y="3867912"/>
              <a:ext cx="4526280" cy="438912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20840" y="3977640"/>
              <a:ext cx="2423160" cy="21031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80" b="1">
                  <a:solidFill>
                    <a:srgbClr val="182F3A"/>
                  </a:solidFill>
                  <a:latin typeface="Aptos"/>
                </a:defRPr>
              </a:pPr>
              <a:r>
                <a:t>Grant B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89720" y="3977640"/>
              <a:ext cx="1417320" cy="21031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>
                <a:defRPr sz="980" b="1">
                  <a:solidFill>
                    <a:srgbClr val="E8B14A"/>
                  </a:solidFill>
                  <a:latin typeface="Aptos"/>
                </a:defRPr>
              </a:pPr>
              <a:r>
                <a:t>Sep 30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537960" y="4462272"/>
              <a:ext cx="4526280" cy="438912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720840" y="4572000"/>
              <a:ext cx="2423160" cy="21031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80" b="1">
                  <a:solidFill>
                    <a:srgbClr val="182F3A"/>
                  </a:solidFill>
                  <a:latin typeface="Aptos"/>
                </a:defRPr>
              </a:pPr>
              <a:r>
                <a:t>Fee waiver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189720" y="4572000"/>
              <a:ext cx="1417320" cy="21031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>
                <a:defRPr sz="980" b="1">
                  <a:solidFill>
                    <a:srgbClr val="189D97"/>
                  </a:solidFill>
                  <a:latin typeface="Aptos"/>
                </a:defRPr>
              </a:pPr>
              <a:r>
                <a:t>Oct 02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63506" y="5239512"/>
              <a:ext cx="4480560" cy="29238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50" b="1">
                  <a:solidFill>
                    <a:srgbClr val="EF674E"/>
                  </a:solidFill>
                  <a:latin typeface="Aptos"/>
                </a:defRPr>
              </a:pPr>
              <a:r>
                <a:rPr sz="1300" dirty="0"/>
                <a:t>Sequence writing, review and document collection.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72720"/>
            <a:ext cx="12191695" cy="7181941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07238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89D97"/>
                </a:solidFill>
                <a:latin typeface="Aptos"/>
              </a:defRPr>
            </a:pPr>
            <a:r>
              <a:rPr sz="2800" dirty="0"/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5B6F7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1908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B6F77"/>
                </a:solidFill>
                <a:latin typeface="Aptos"/>
              </a:defRPr>
            </a:pPr>
            <a:r>
              <a:t>EDUFUND  /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2059" y="1158182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F3A"/>
                </a:solidFill>
                <a:latin typeface="Aptos"/>
              </a:defRPr>
            </a:pPr>
            <a:r>
              <a:rPr dirty="0"/>
              <a:t>A deployable web platform with modular agent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2463" y="1803574"/>
            <a:ext cx="10515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B6F77"/>
                </a:solidFill>
                <a:latin typeface="Aptos"/>
              </a:defRPr>
            </a:pPr>
            <a:r>
              <a:rPr sz="1500" dirty="0"/>
              <a:t>The interface, API, data model and planning logic remain separate so the product can grow safely.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93C0FDE-CB54-445F-29FA-29570F81DAD2}"/>
              </a:ext>
            </a:extLst>
          </p:cNvPr>
          <p:cNvGrpSpPr/>
          <p:nvPr/>
        </p:nvGrpSpPr>
        <p:grpSpPr>
          <a:xfrm>
            <a:off x="541781" y="2757090"/>
            <a:ext cx="2229612" cy="2255520"/>
            <a:chOff x="685800" y="1828800"/>
            <a:chExt cx="2229612" cy="2255520"/>
          </a:xfrm>
        </p:grpSpPr>
        <p:sp>
          <p:nvSpPr>
            <p:cNvPr id="8" name="Rounded Rectangle 7"/>
            <p:cNvSpPr/>
            <p:nvPr/>
          </p:nvSpPr>
          <p:spPr>
            <a:xfrm>
              <a:off x="685800" y="1828800"/>
              <a:ext cx="2229612" cy="2255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5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800" y="2087880"/>
              <a:ext cx="79246" cy="1753951"/>
            </a:xfrm>
            <a:prstGeom prst="rect">
              <a:avLst/>
            </a:prstGeom>
            <a:solidFill>
              <a:srgbClr val="4976D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86968" y="1993392"/>
              <a:ext cx="1965960" cy="4001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400" b="1">
                  <a:solidFill>
                    <a:srgbClr val="182F3A"/>
                  </a:solidFill>
                  <a:latin typeface="Aptos"/>
                </a:defRPr>
              </a:pPr>
              <a:r>
                <a:rPr sz="2000" dirty="0"/>
                <a:t>FRONTEND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86968" y="2441448"/>
              <a:ext cx="1965960" cy="113877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80" b="0">
                  <a:solidFill>
                    <a:srgbClr val="5B6F77"/>
                  </a:solidFill>
                  <a:latin typeface="Aptos"/>
                </a:defRPr>
              </a:pPr>
              <a:r>
                <a:rPr sz="1700" dirty="0"/>
                <a:t>React + Vite</a:t>
              </a:r>
              <a:br>
                <a:rPr sz="1700" dirty="0"/>
              </a:br>
              <a:r>
                <a:rPr sz="1700" dirty="0"/>
                <a:t>Responsive UI  </a:t>
              </a:r>
              <a:r>
                <a:rPr sz="1700" dirty="0" err="1"/>
                <a:t>Lucide</a:t>
              </a:r>
              <a:br>
                <a:rPr sz="1700" dirty="0"/>
              </a:br>
              <a:r>
                <a:rPr sz="1700" dirty="0"/>
                <a:t>INR / USD display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4A0551-82F3-1F91-FE49-15168E212EF2}"/>
              </a:ext>
            </a:extLst>
          </p:cNvPr>
          <p:cNvGrpSpPr/>
          <p:nvPr/>
        </p:nvGrpSpPr>
        <p:grpSpPr>
          <a:xfrm>
            <a:off x="3529584" y="2752961"/>
            <a:ext cx="2289049" cy="2255520"/>
            <a:chOff x="3529584" y="1828800"/>
            <a:chExt cx="2289049" cy="2255520"/>
          </a:xfrm>
        </p:grpSpPr>
        <p:sp>
          <p:nvSpPr>
            <p:cNvPr id="12" name="Rounded Rectangle 11"/>
            <p:cNvSpPr/>
            <p:nvPr/>
          </p:nvSpPr>
          <p:spPr>
            <a:xfrm>
              <a:off x="3529584" y="1828800"/>
              <a:ext cx="2289049" cy="2255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5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535679" y="2129789"/>
              <a:ext cx="73152" cy="1712041"/>
            </a:xfrm>
            <a:prstGeom prst="rect">
              <a:avLst/>
            </a:prstGeom>
            <a:solidFill>
              <a:srgbClr val="189D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730752" y="1993392"/>
              <a:ext cx="1965960" cy="4001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400" b="1">
                  <a:solidFill>
                    <a:srgbClr val="182F3A"/>
                  </a:solidFill>
                  <a:latin typeface="Aptos"/>
                </a:defRPr>
              </a:pPr>
              <a:r>
                <a:rPr sz="2000"/>
                <a:t>API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30752" y="2441448"/>
              <a:ext cx="1965960" cy="87716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80" b="0">
                  <a:solidFill>
                    <a:srgbClr val="5B6F77"/>
                  </a:solidFill>
                  <a:latin typeface="Aptos"/>
                </a:defRPr>
              </a:pPr>
              <a:r>
                <a:rPr sz="1700" dirty="0" err="1"/>
                <a:t>FastAPI</a:t>
              </a:r>
              <a:br>
                <a:rPr sz="1700" dirty="0"/>
              </a:br>
              <a:r>
                <a:rPr sz="1700" dirty="0"/>
                <a:t>REST endpoints</a:t>
              </a:r>
              <a:br>
                <a:rPr sz="1700" dirty="0"/>
              </a:br>
              <a:r>
                <a:rPr sz="1700" dirty="0" err="1"/>
                <a:t>Pydantic</a:t>
              </a:r>
              <a:r>
                <a:rPr sz="1700" dirty="0"/>
                <a:t> schemas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271BA32-B905-6659-7EC2-1A08935107F7}"/>
              </a:ext>
            </a:extLst>
          </p:cNvPr>
          <p:cNvGrpSpPr/>
          <p:nvPr/>
        </p:nvGrpSpPr>
        <p:grpSpPr>
          <a:xfrm>
            <a:off x="6531863" y="2824317"/>
            <a:ext cx="2289049" cy="2137655"/>
            <a:chOff x="6373368" y="1828800"/>
            <a:chExt cx="2289049" cy="2137655"/>
          </a:xfrm>
        </p:grpSpPr>
        <p:sp>
          <p:nvSpPr>
            <p:cNvPr id="16" name="Rounded Rectangle 15"/>
            <p:cNvSpPr/>
            <p:nvPr/>
          </p:nvSpPr>
          <p:spPr>
            <a:xfrm>
              <a:off x="6373368" y="1828800"/>
              <a:ext cx="2289049" cy="2137655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5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373368" y="2087880"/>
              <a:ext cx="59436" cy="1606304"/>
            </a:xfrm>
            <a:prstGeom prst="rect">
              <a:avLst/>
            </a:prstGeom>
            <a:solidFill>
              <a:srgbClr val="EF67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74536" y="1993392"/>
              <a:ext cx="1965960" cy="4001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400" b="1">
                  <a:solidFill>
                    <a:srgbClr val="182F3A"/>
                  </a:solidFill>
                  <a:latin typeface="Aptos"/>
                </a:defRPr>
              </a:pPr>
              <a:r>
                <a:rPr sz="2000"/>
                <a:t>AGENTS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74536" y="2441448"/>
              <a:ext cx="1965960" cy="140038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80" b="0">
                  <a:solidFill>
                    <a:srgbClr val="5B6F77"/>
                  </a:solidFill>
                  <a:latin typeface="Aptos"/>
                </a:defRPr>
              </a:pPr>
              <a:r>
                <a:rPr sz="1700" dirty="0"/>
                <a:t>Discovery </a:t>
              </a:r>
              <a:endParaRPr lang="en-IN" sz="1700" dirty="0"/>
            </a:p>
            <a:p>
              <a:pPr algn="l">
                <a:defRPr sz="1080" b="0">
                  <a:solidFill>
                    <a:srgbClr val="5B6F77"/>
                  </a:solidFill>
                  <a:latin typeface="Aptos"/>
                </a:defRPr>
              </a:pPr>
              <a:r>
                <a:rPr sz="1700" dirty="0"/>
                <a:t>Eligibility</a:t>
              </a:r>
              <a:br>
                <a:rPr sz="1700" dirty="0"/>
              </a:br>
              <a:r>
                <a:rPr sz="1700" dirty="0"/>
                <a:t>Planner </a:t>
              </a:r>
              <a:endParaRPr lang="en-IN" sz="1700" dirty="0"/>
            </a:p>
            <a:p>
              <a:pPr algn="l">
                <a:defRPr sz="1080" b="0">
                  <a:solidFill>
                    <a:srgbClr val="5B6F77"/>
                  </a:solidFill>
                  <a:latin typeface="Aptos"/>
                </a:defRPr>
              </a:pPr>
              <a:r>
                <a:rPr sz="1700" dirty="0"/>
                <a:t>Autopilot</a:t>
              </a:r>
              <a:br>
                <a:rPr sz="1700" dirty="0"/>
              </a:br>
              <a:r>
                <a:rPr sz="1700" dirty="0"/>
                <a:t>Deadline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94BA4AE-F7E2-9F22-C175-C50BF5C0AECE}"/>
              </a:ext>
            </a:extLst>
          </p:cNvPr>
          <p:cNvGrpSpPr/>
          <p:nvPr/>
        </p:nvGrpSpPr>
        <p:grpSpPr>
          <a:xfrm>
            <a:off x="9699495" y="2824317"/>
            <a:ext cx="2258568" cy="2137655"/>
            <a:chOff x="9699495" y="1844731"/>
            <a:chExt cx="2258568" cy="213765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7BDF76E-B57B-50CB-544E-380B8EF770AD}"/>
                </a:ext>
              </a:extLst>
            </p:cNvPr>
            <p:cNvGrpSpPr/>
            <p:nvPr/>
          </p:nvGrpSpPr>
          <p:grpSpPr>
            <a:xfrm>
              <a:off x="9699495" y="1844731"/>
              <a:ext cx="2258568" cy="2137655"/>
              <a:chOff x="9217152" y="1828800"/>
              <a:chExt cx="2258568" cy="2137655"/>
            </a:xfrm>
          </p:grpSpPr>
          <p:sp>
            <p:nvSpPr>
              <p:cNvPr id="20" name="Rounded Rectangle 19"/>
              <p:cNvSpPr/>
              <p:nvPr/>
            </p:nvSpPr>
            <p:spPr>
              <a:xfrm>
                <a:off x="9217152" y="1828800"/>
                <a:ext cx="2258568" cy="2137655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EE5E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9418320" y="1993392"/>
                <a:ext cx="1965960" cy="40011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400" b="1">
                    <a:solidFill>
                      <a:srgbClr val="182F3A"/>
                    </a:solidFill>
                    <a:latin typeface="Aptos"/>
                  </a:defRPr>
                </a:pPr>
                <a:r>
                  <a:rPr sz="2000" dirty="0"/>
                  <a:t>DATA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9418320" y="2441448"/>
                <a:ext cx="1965960" cy="87716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080" b="0">
                    <a:solidFill>
                      <a:srgbClr val="5B6F77"/>
                    </a:solidFill>
                    <a:latin typeface="Aptos"/>
                  </a:defRPr>
                </a:pPr>
                <a:r>
                  <a:rPr sz="1700" dirty="0"/>
                  <a:t>SQLite</a:t>
                </a:r>
                <a:br>
                  <a:rPr sz="1700" dirty="0"/>
                </a:br>
                <a:r>
                  <a:rPr sz="1700" dirty="0"/>
                  <a:t>Profiles</a:t>
                </a:r>
                <a:br>
                  <a:rPr sz="1700" dirty="0"/>
                </a:br>
                <a:r>
                  <a:rPr sz="1700" dirty="0"/>
                  <a:t>Applications</a:t>
                </a:r>
              </a:p>
            </p:txBody>
          </p:sp>
        </p:grpSp>
        <p:sp>
          <p:nvSpPr>
            <p:cNvPr id="21" name="Rectangle 20"/>
            <p:cNvSpPr/>
            <p:nvPr/>
          </p:nvSpPr>
          <p:spPr>
            <a:xfrm>
              <a:off x="9699495" y="2205240"/>
              <a:ext cx="59436" cy="1450432"/>
            </a:xfrm>
            <a:prstGeom prst="rect">
              <a:avLst/>
            </a:prstGeom>
            <a:solidFill>
              <a:srgbClr val="E8B1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FA5B043-9AAD-80F2-675C-1771DA520E96}"/>
              </a:ext>
            </a:extLst>
          </p:cNvPr>
          <p:cNvGrpSpPr/>
          <p:nvPr/>
        </p:nvGrpSpPr>
        <p:grpSpPr>
          <a:xfrm>
            <a:off x="3761841" y="5630231"/>
            <a:ext cx="4668012" cy="324832"/>
            <a:chOff x="4116324" y="5124992"/>
            <a:chExt cx="3974592" cy="324832"/>
          </a:xfrm>
        </p:grpSpPr>
        <p:sp>
          <p:nvSpPr>
            <p:cNvPr id="27" name="Rounded Rectangle 26"/>
            <p:cNvSpPr/>
            <p:nvPr/>
          </p:nvSpPr>
          <p:spPr>
            <a:xfrm>
              <a:off x="4434840" y="5138928"/>
              <a:ext cx="3337560" cy="310896"/>
            </a:xfrm>
            <a:prstGeom prst="roundRect">
              <a:avLst/>
            </a:prstGeom>
            <a:solidFill>
              <a:srgbClr val="0C2B3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116324" y="5124992"/>
              <a:ext cx="3974592" cy="3231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1">
                  <a:solidFill>
                    <a:srgbClr val="FFFFFF"/>
                  </a:solidFill>
                  <a:latin typeface="Aptos"/>
                </a:defRPr>
              </a:pPr>
              <a:r>
                <a:rPr sz="1500" dirty="0"/>
                <a:t>INDEPENDENT DEPLOYMENT VIA API URL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-10160" y="-20320"/>
            <a:ext cx="12772611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sz="1300"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89D97"/>
                </a:solidFill>
                <a:latin typeface="Aptos"/>
              </a:defRPr>
            </a:pPr>
            <a:r>
              <a:rPr sz="2800" dirty="0"/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7E969D"/>
                </a:solidFill>
                <a:latin typeface="Aptos"/>
              </a:defRPr>
            </a:pPr>
            <a:r>
              <a:rPr>
                <a:solidFill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1908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E969D"/>
                </a:solidFill>
                <a:latin typeface="Aptos"/>
              </a:defRPr>
            </a:pPr>
            <a:r>
              <a:rPr>
                <a:solidFill/>
              </a:rPr>
              <a:t>EDUFUND  /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040" y="1055324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F3A"/>
                </a:solidFill>
                <a:latin typeface="Aptos"/>
              </a:defRPr>
            </a:pPr>
            <a:r>
              <a:rPr dirty="0">
                <a:solidFill/>
              </a:rPr>
              <a:t>A two-minute journey from account creation to a ready packet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7984" y="1621432"/>
            <a:ext cx="10515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C5D6DB"/>
                </a:solidFill>
                <a:latin typeface="Aptos"/>
              </a:defRPr>
            </a:pPr>
            <a:r>
              <a:rPr sz="1500" dirty="0">
                <a:solidFill/>
              </a:rPr>
              <a:t>Start with the student's need, then show the plan and the protective controls.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6595485-6635-4627-B531-CAFBEA3F7BE4}"/>
              </a:ext>
            </a:extLst>
          </p:cNvPr>
          <p:cNvGrpSpPr/>
          <p:nvPr/>
        </p:nvGrpSpPr>
        <p:grpSpPr>
          <a:xfrm>
            <a:off x="1450848" y="2371139"/>
            <a:ext cx="10378439" cy="3547872"/>
            <a:chOff x="731520" y="1792224"/>
            <a:chExt cx="10378439" cy="3547872"/>
          </a:xfrm>
        </p:grpSpPr>
        <p:cxnSp>
          <p:nvCxnSpPr>
            <p:cNvPr id="12" name="Connector 11"/>
            <p:cNvCxnSpPr/>
            <p:nvPr/>
          </p:nvCxnSpPr>
          <p:spPr>
            <a:xfrm>
              <a:off x="932688" y="2194560"/>
              <a:ext cx="0" cy="374904"/>
            </a:xfrm>
            <a:prstGeom prst="line">
              <a:avLst/>
            </a:prstGeom>
            <a:ln w="13970">
              <a:solidFill>
                <a:srgbClr val="3A5B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932688" y="2980944"/>
              <a:ext cx="0" cy="374904"/>
            </a:xfrm>
            <a:prstGeom prst="line">
              <a:avLst/>
            </a:prstGeom>
            <a:ln w="13970">
              <a:solidFill>
                <a:srgbClr val="3A5B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932688" y="3767328"/>
              <a:ext cx="0" cy="374904"/>
            </a:xfrm>
            <a:prstGeom prst="line">
              <a:avLst/>
            </a:prstGeom>
            <a:ln w="13970">
              <a:solidFill>
                <a:srgbClr val="3A5B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932688" y="4553712"/>
              <a:ext cx="0" cy="374904"/>
            </a:xfrm>
            <a:prstGeom prst="line">
              <a:avLst/>
            </a:prstGeom>
            <a:ln w="13970">
              <a:solidFill>
                <a:srgbClr val="3A5B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F837CB9-5493-41B8-F62A-03F7CC0638C5}"/>
                </a:ext>
              </a:extLst>
            </p:cNvPr>
            <p:cNvGrpSpPr/>
            <p:nvPr/>
          </p:nvGrpSpPr>
          <p:grpSpPr>
            <a:xfrm>
              <a:off x="731520" y="1792224"/>
              <a:ext cx="10378439" cy="3547872"/>
              <a:chOff x="731520" y="1792224"/>
              <a:chExt cx="10378439" cy="3547872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731520" y="1792224"/>
                <a:ext cx="402336" cy="402336"/>
              </a:xfrm>
              <a:prstGeom prst="ellipse">
                <a:avLst/>
              </a:prstGeom>
              <a:solidFill>
                <a:srgbClr val="4976D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solidFill/>
                  </a:defRPr>
                </a:pPr>
                <a:endParaRPr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748284" y="1862923"/>
                <a:ext cx="502920" cy="29238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850" b="1">
                    <a:solidFill>
                      <a:srgbClr val="189D97"/>
                    </a:solidFill>
                    <a:latin typeface="Aptos"/>
                  </a:defRPr>
                </a:pPr>
                <a:r>
                  <a:rPr sz="1300" dirty="0">
                    <a:solidFill/>
                  </a:rPr>
                  <a:t>01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965960" y="1801368"/>
                <a:ext cx="1920240" cy="3539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250" b="1">
                    <a:solidFill>
                      <a:srgbClr val="182F3A"/>
                    </a:solidFill>
                    <a:latin typeface="Aptos"/>
                  </a:defRPr>
                </a:pPr>
                <a:r>
                  <a:rPr sz="1700" dirty="0">
                    <a:solidFill/>
                  </a:rPr>
                  <a:t>REGISTER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977639" y="1801368"/>
                <a:ext cx="7132320" cy="3200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080" b="0">
                    <a:solidFill>
                      <a:srgbClr val="C7D8DC"/>
                    </a:solidFill>
                    <a:latin typeface="Aptos"/>
                  </a:defRPr>
                </a:pPr>
                <a:r>
                  <a:rPr sz="1400">
                    <a:solidFill/>
                  </a:rPr>
                  <a:t>Create an account</a:t>
                </a:r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731520" y="2578608"/>
                <a:ext cx="402336" cy="402336"/>
              </a:xfrm>
              <a:prstGeom prst="ellipse">
                <a:avLst/>
              </a:prstGeom>
              <a:solidFill>
                <a:srgbClr val="189D9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solidFill/>
                  </a:defRPr>
                </a:pPr>
                <a:endParaRPr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48284" y="2649308"/>
                <a:ext cx="502920" cy="29238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850" b="1">
                    <a:solidFill>
                      <a:srgbClr val="189D97"/>
                    </a:solidFill>
                    <a:latin typeface="Aptos"/>
                  </a:defRPr>
                </a:pPr>
                <a:r>
                  <a:rPr sz="1300">
                    <a:solidFill/>
                  </a:rPr>
                  <a:t>02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965960" y="2587752"/>
                <a:ext cx="1920240" cy="3539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250" b="1">
                    <a:solidFill>
                      <a:srgbClr val="182F3A"/>
                    </a:solidFill>
                    <a:latin typeface="Aptos"/>
                  </a:defRPr>
                </a:pPr>
                <a:r>
                  <a:rPr sz="1700" dirty="0">
                    <a:solidFill/>
                  </a:rPr>
                  <a:t>PROFILE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3977639" y="2587752"/>
                <a:ext cx="7132320" cy="3200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080" b="0">
                    <a:solidFill>
                      <a:srgbClr val="C7D8DC"/>
                    </a:solidFill>
                    <a:latin typeface="Aptos"/>
                  </a:defRPr>
                </a:pPr>
                <a:r>
                  <a:rPr sz="1400" dirty="0">
                    <a:solidFill/>
                  </a:rPr>
                  <a:t>Course • GPA • annual cost • aid • achievements</a:t>
                </a:r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731520" y="3364991"/>
                <a:ext cx="402336" cy="402336"/>
              </a:xfrm>
              <a:prstGeom prst="ellipse">
                <a:avLst/>
              </a:prstGeom>
              <a:solidFill>
                <a:srgbClr val="E8B14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solidFill/>
                  </a:defRPr>
                </a:pPr>
                <a:endParaRPr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748284" y="3435692"/>
                <a:ext cx="502920" cy="29238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850" b="1">
                    <a:solidFill>
                      <a:srgbClr val="189D97"/>
                    </a:solidFill>
                    <a:latin typeface="Aptos"/>
                  </a:defRPr>
                </a:pPr>
                <a:r>
                  <a:rPr sz="1300">
                    <a:solidFill/>
                  </a:rPr>
                  <a:t>03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965960" y="3374136"/>
                <a:ext cx="1920240" cy="3539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250" b="1">
                    <a:solidFill>
                      <a:srgbClr val="182F3A"/>
                    </a:solidFill>
                    <a:latin typeface="Aptos"/>
                  </a:defRPr>
                </a:pPr>
                <a:r>
                  <a:rPr sz="1700">
                    <a:solidFill/>
                  </a:rPr>
                  <a:t>PLANNER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3977639" y="3374136"/>
                <a:ext cx="7132320" cy="3200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080" b="0">
                    <a:solidFill>
                      <a:srgbClr val="C7D8DC"/>
                    </a:solidFill>
                    <a:latin typeface="Aptos"/>
                  </a:defRPr>
                </a:pPr>
                <a:r>
                  <a:rPr sz="1400">
                    <a:solidFill/>
                  </a:rPr>
                  <a:t>Gap • portfolio • confidence • scenarios</a:t>
                </a:r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731520" y="4151376"/>
                <a:ext cx="402336" cy="402336"/>
              </a:xfrm>
              <a:prstGeom prst="ellipse">
                <a:avLst/>
              </a:prstGeom>
              <a:solidFill>
                <a:srgbClr val="EF674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solidFill/>
                  </a:defRPr>
                </a:pPr>
                <a:endParaRPr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748284" y="4222076"/>
                <a:ext cx="502920" cy="29238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850" b="1">
                    <a:solidFill>
                      <a:srgbClr val="189D97"/>
                    </a:solidFill>
                    <a:latin typeface="Aptos"/>
                  </a:defRPr>
                </a:pPr>
                <a:r>
                  <a:rPr sz="1300">
                    <a:solidFill/>
                  </a:rPr>
                  <a:t>04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1965960" y="4160520"/>
                <a:ext cx="1920240" cy="3539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250" b="1">
                    <a:solidFill>
                      <a:srgbClr val="182F3A"/>
                    </a:solidFill>
                    <a:latin typeface="Aptos"/>
                  </a:defRPr>
                </a:pPr>
                <a:r>
                  <a:rPr sz="1700">
                    <a:solidFill/>
                  </a:rPr>
                  <a:t>AUTOPILOT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3977639" y="4160520"/>
                <a:ext cx="7132320" cy="3200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080" b="0">
                    <a:solidFill>
                      <a:srgbClr val="C7D8DC"/>
                    </a:solidFill>
                    <a:latin typeface="Aptos"/>
                  </a:defRPr>
                </a:pPr>
                <a:r>
                  <a:rPr sz="1400">
                    <a:solidFill/>
                  </a:rPr>
                  <a:t>Opportunity • documents • evidence check</a:t>
                </a:r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731520" y="4937760"/>
                <a:ext cx="402336" cy="402336"/>
              </a:xfrm>
              <a:prstGeom prst="ellipse">
                <a:avLst/>
              </a:prstGeom>
              <a:solidFill>
                <a:srgbClr val="189D9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solidFill/>
                  </a:defRPr>
                </a:pPr>
                <a:endParaRPr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748284" y="5008459"/>
                <a:ext cx="502920" cy="29238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850" b="1">
                    <a:solidFill>
                      <a:srgbClr val="189D97"/>
                    </a:solidFill>
                    <a:latin typeface="Aptos"/>
                  </a:defRPr>
                </a:pPr>
                <a:r>
                  <a:rPr sz="1300">
                    <a:solidFill/>
                  </a:rPr>
                  <a:t>05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965960" y="4946903"/>
                <a:ext cx="1920240" cy="3539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250" b="1">
                    <a:solidFill>
                      <a:srgbClr val="182F3A"/>
                    </a:solidFill>
                    <a:latin typeface="Aptos"/>
                  </a:defRPr>
                </a:pPr>
                <a:r>
                  <a:rPr sz="1700">
                    <a:solidFill/>
                  </a:rPr>
                  <a:t>PIPELINE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3977639" y="4946903"/>
                <a:ext cx="7132320" cy="3200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080" b="0">
                    <a:solidFill>
                      <a:srgbClr val="C7D8DC"/>
                    </a:solidFill>
                    <a:latin typeface="Aptos"/>
                  </a:defRPr>
                </a:pPr>
                <a:r>
                  <a:rPr sz="1400">
                    <a:solidFill/>
                  </a:rPr>
                  <a:t>Reuse • deadline collisions • next action</a:t>
                </a: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B12F820-C7AC-FF25-5D39-26FA95C89B18}"/>
              </a:ext>
            </a:extLst>
          </p:cNvPr>
          <p:cNvGrpSpPr/>
          <p:nvPr/>
        </p:nvGrpSpPr>
        <p:grpSpPr>
          <a:xfrm>
            <a:off x="9095232" y="5786946"/>
            <a:ext cx="2602992" cy="343230"/>
            <a:chOff x="9095232" y="5601754"/>
            <a:chExt cx="2602992" cy="343230"/>
          </a:xfrm>
        </p:grpSpPr>
        <p:sp>
          <p:nvSpPr>
            <p:cNvPr id="32" name="Rounded Rectangle 31"/>
            <p:cNvSpPr/>
            <p:nvPr/>
          </p:nvSpPr>
          <p:spPr>
            <a:xfrm>
              <a:off x="9095232" y="5601754"/>
              <a:ext cx="2602992" cy="343230"/>
            </a:xfrm>
            <a:prstGeom prst="roundRect">
              <a:avLst/>
            </a:prstGeom>
            <a:solidFill>
              <a:srgbClr val="EF67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139936" y="5650858"/>
              <a:ext cx="2513584" cy="2923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1">
                  <a:solidFill>
                    <a:srgbClr val="182F3A"/>
                  </a:solidFill>
                  <a:latin typeface="Aptos"/>
                </a:defRPr>
              </a:pPr>
              <a:r>
                <a:rPr sz="1300" dirty="0">
                  <a:solidFill/>
                </a:rPr>
                <a:t>STUDENT STAYS IN CONTROL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FA4762B-D7C0-8B32-CE26-169DA4AC0EB0}"/>
              </a:ext>
            </a:extLst>
          </p:cNvPr>
          <p:cNvSpPr txBox="1"/>
          <p:nvPr/>
        </p:nvSpPr>
        <p:spPr>
          <a:xfrm>
            <a:off x="2685288" y="500521"/>
            <a:ext cx="85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Demo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04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7" y="384048"/>
            <a:ext cx="394312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89D97"/>
                </a:solidFill>
                <a:latin typeface="Aptos"/>
              </a:defRPr>
            </a:pPr>
            <a:r>
              <a:rPr sz="2800" dirty="0"/>
              <a:t>IMPACT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5B6F7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1908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B6F77"/>
                </a:solidFill>
                <a:latin typeface="Aptos"/>
              </a:defRPr>
            </a:pPr>
            <a:r>
              <a:t>EDUFUND  /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" y="936514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F3A"/>
                </a:solidFill>
                <a:latin typeface="Aptos"/>
              </a:defRPr>
            </a:pPr>
            <a:r>
              <a:rPr dirty="0"/>
              <a:t>From hackathon prototype to a trusted student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509992"/>
            <a:ext cx="10515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B6F77"/>
                </a:solidFill>
                <a:latin typeface="Aptos"/>
              </a:defRPr>
            </a:pPr>
            <a:r>
              <a:rPr lang="en-US" sz="1500" dirty="0"/>
              <a:t>The product value is transparency, actionability and safer application preparation.</a:t>
            </a:r>
            <a:endParaRPr sz="15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1BA3B90-1017-6E16-AB4F-76D92A67F5D0}"/>
              </a:ext>
            </a:extLst>
          </p:cNvPr>
          <p:cNvGrpSpPr/>
          <p:nvPr/>
        </p:nvGrpSpPr>
        <p:grpSpPr>
          <a:xfrm>
            <a:off x="886970" y="2243485"/>
            <a:ext cx="3127248" cy="1481328"/>
            <a:chOff x="685800" y="1755648"/>
            <a:chExt cx="3127248" cy="1481328"/>
          </a:xfrm>
        </p:grpSpPr>
        <p:sp>
          <p:nvSpPr>
            <p:cNvPr id="8" name="Rounded Rectangle 7"/>
            <p:cNvSpPr/>
            <p:nvPr/>
          </p:nvSpPr>
          <p:spPr>
            <a:xfrm>
              <a:off x="685800" y="1755648"/>
              <a:ext cx="3127248" cy="14813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5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800" y="1947672"/>
              <a:ext cx="59436" cy="1107933"/>
            </a:xfrm>
            <a:prstGeom prst="rect">
              <a:avLst/>
            </a:prstGeom>
            <a:solidFill>
              <a:srgbClr val="4976D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86968" y="1920240"/>
              <a:ext cx="2761488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400" b="1">
                  <a:solidFill>
                    <a:srgbClr val="182F3A"/>
                  </a:solidFill>
                  <a:latin typeface="Aptos"/>
                </a:defRPr>
              </a:pPr>
              <a:r>
                <a:rPr dirty="0"/>
                <a:t>STUDENTS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68680" y="2314170"/>
              <a:ext cx="2761488" cy="55399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80" b="0">
                  <a:solidFill>
                    <a:srgbClr val="5B6F77"/>
                  </a:solidFill>
                  <a:latin typeface="Aptos"/>
                </a:defRPr>
              </a:pPr>
              <a:r>
                <a:rPr sz="1500" dirty="0"/>
                <a:t>Understand the funding gap and the order of work.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E6BBBDA-BCD2-245F-F8AA-29826F6B3350}"/>
              </a:ext>
            </a:extLst>
          </p:cNvPr>
          <p:cNvGrpSpPr/>
          <p:nvPr/>
        </p:nvGrpSpPr>
        <p:grpSpPr>
          <a:xfrm>
            <a:off x="4334257" y="2243485"/>
            <a:ext cx="3127248" cy="1481328"/>
            <a:chOff x="4133087" y="1755648"/>
            <a:chExt cx="3127248" cy="1481328"/>
          </a:xfrm>
        </p:grpSpPr>
        <p:sp>
          <p:nvSpPr>
            <p:cNvPr id="12" name="Rounded Rectangle 11"/>
            <p:cNvSpPr/>
            <p:nvPr/>
          </p:nvSpPr>
          <p:spPr>
            <a:xfrm>
              <a:off x="4133087" y="1755648"/>
              <a:ext cx="3127248" cy="14813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5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133087" y="1901952"/>
              <a:ext cx="59435" cy="1146795"/>
            </a:xfrm>
            <a:prstGeom prst="rect">
              <a:avLst/>
            </a:prstGeom>
            <a:solidFill>
              <a:srgbClr val="189D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34255" y="1920240"/>
              <a:ext cx="2761488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400" b="1">
                  <a:solidFill>
                    <a:srgbClr val="182F3A"/>
                  </a:solidFill>
                  <a:latin typeface="Aptos"/>
                </a:defRPr>
              </a:pPr>
              <a:r>
                <a:rPr dirty="0"/>
                <a:t>ADVISORS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15967" y="2270775"/>
              <a:ext cx="2761488" cy="78483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80" b="0">
                  <a:solidFill>
                    <a:srgbClr val="5B6F77"/>
                  </a:solidFill>
                  <a:latin typeface="Aptos"/>
                </a:defRPr>
              </a:pPr>
              <a:r>
                <a:rPr sz="1500" dirty="0"/>
                <a:t>Review readiness through a shared plan instead of a scattered list.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681109C-A603-C1DF-3E87-3CF3AA130961}"/>
              </a:ext>
            </a:extLst>
          </p:cNvPr>
          <p:cNvGrpSpPr/>
          <p:nvPr/>
        </p:nvGrpSpPr>
        <p:grpSpPr>
          <a:xfrm>
            <a:off x="7781544" y="2243485"/>
            <a:ext cx="3127249" cy="1481328"/>
            <a:chOff x="7580374" y="1755648"/>
            <a:chExt cx="3127249" cy="1481328"/>
          </a:xfrm>
        </p:grpSpPr>
        <p:sp>
          <p:nvSpPr>
            <p:cNvPr id="16" name="Rounded Rectangle 15"/>
            <p:cNvSpPr/>
            <p:nvPr/>
          </p:nvSpPr>
          <p:spPr>
            <a:xfrm>
              <a:off x="7580375" y="1755648"/>
              <a:ext cx="3127248" cy="14813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5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580374" y="1901952"/>
              <a:ext cx="59437" cy="1153653"/>
            </a:xfrm>
            <a:prstGeom prst="rect">
              <a:avLst/>
            </a:prstGeom>
            <a:solidFill>
              <a:srgbClr val="E8B1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781544" y="1920240"/>
              <a:ext cx="2761488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400" b="1">
                  <a:solidFill>
                    <a:srgbClr val="182F3A"/>
                  </a:solidFill>
                  <a:latin typeface="Aptos"/>
                </a:defRPr>
              </a:pPr>
              <a:r>
                <a:rPr dirty="0"/>
                <a:t>INSTITUTIONS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763255" y="2263917"/>
              <a:ext cx="2761488" cy="78483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080" b="0">
                  <a:solidFill>
                    <a:srgbClr val="5B6F77"/>
                  </a:solidFill>
                  <a:latin typeface="Aptos"/>
                </a:defRPr>
              </a:pPr>
              <a:r>
                <a:rPr sz="1500" dirty="0"/>
                <a:t>Point students to official sources and clearer requirements.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02336" y="4100074"/>
            <a:ext cx="18288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B6F77"/>
                </a:solidFill>
                <a:latin typeface="Aptos"/>
              </a:defRPr>
            </a:pPr>
            <a:r>
              <a:rPr sz="1500" dirty="0"/>
              <a:t>ROADMAP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D000FD8-4427-536F-6BC1-5867D3DD94AD}"/>
              </a:ext>
            </a:extLst>
          </p:cNvPr>
          <p:cNvGrpSpPr/>
          <p:nvPr/>
        </p:nvGrpSpPr>
        <p:grpSpPr>
          <a:xfrm>
            <a:off x="1234427" y="4656647"/>
            <a:ext cx="914400" cy="310896"/>
            <a:chOff x="685800" y="4069080"/>
            <a:chExt cx="914400" cy="310896"/>
          </a:xfrm>
        </p:grpSpPr>
        <p:sp>
          <p:nvSpPr>
            <p:cNvPr id="21" name="Rounded Rectangle 20"/>
            <p:cNvSpPr/>
            <p:nvPr/>
          </p:nvSpPr>
          <p:spPr>
            <a:xfrm>
              <a:off x="685800" y="4069080"/>
              <a:ext cx="914400" cy="310896"/>
            </a:xfrm>
            <a:prstGeom prst="roundRect">
              <a:avLst/>
            </a:prstGeom>
            <a:solidFill>
              <a:srgbClr val="4976D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85800" y="4078558"/>
              <a:ext cx="914400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1">
                  <a:solidFill>
                    <a:srgbClr val="FFFFFF"/>
                  </a:solidFill>
                  <a:latin typeface="Aptos"/>
                </a:defRPr>
              </a:pPr>
              <a:r>
                <a:rPr sz="1000" dirty="0"/>
                <a:t>NOW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02336" y="5105989"/>
            <a:ext cx="3246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82F3A"/>
                </a:solidFill>
                <a:latin typeface="Aptos"/>
              </a:defRPr>
            </a:pPr>
            <a:r>
              <a:rPr sz="1300" dirty="0"/>
              <a:t>Profile discovery • funding plan • safe preparation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3DA747D-1CCE-CAD0-8A5E-B85ACD7F1339}"/>
              </a:ext>
            </a:extLst>
          </p:cNvPr>
          <p:cNvGrpSpPr/>
          <p:nvPr/>
        </p:nvGrpSpPr>
        <p:grpSpPr>
          <a:xfrm>
            <a:off x="5181447" y="4649588"/>
            <a:ext cx="914400" cy="317790"/>
            <a:chOff x="4389120" y="4062186"/>
            <a:chExt cx="914400" cy="317790"/>
          </a:xfrm>
        </p:grpSpPr>
        <p:sp>
          <p:nvSpPr>
            <p:cNvPr id="24" name="Rounded Rectangle 23"/>
            <p:cNvSpPr/>
            <p:nvPr/>
          </p:nvSpPr>
          <p:spPr>
            <a:xfrm>
              <a:off x="4389120" y="4069080"/>
              <a:ext cx="914400" cy="310896"/>
            </a:xfrm>
            <a:prstGeom prst="roundRect">
              <a:avLst/>
            </a:prstGeom>
            <a:solidFill>
              <a:srgbClr val="189D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451985" y="4062186"/>
              <a:ext cx="788670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1">
                  <a:solidFill>
                    <a:srgbClr val="FFFFFF"/>
                  </a:solidFill>
                  <a:latin typeface="Aptos"/>
                </a:defRPr>
              </a:pPr>
              <a:r>
                <a:rPr sz="1000" dirty="0"/>
                <a:t>NEXT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4393691" y="5125997"/>
            <a:ext cx="3246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82F3A"/>
                </a:solidFill>
                <a:latin typeface="Aptos"/>
              </a:defRPr>
            </a:pPr>
            <a:r>
              <a:rPr sz="1300" dirty="0"/>
              <a:t>Source checks • expiry reminders • institution dashboards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9A74E5-5775-9958-623F-4603CB9D225E}"/>
              </a:ext>
            </a:extLst>
          </p:cNvPr>
          <p:cNvGrpSpPr/>
          <p:nvPr/>
        </p:nvGrpSpPr>
        <p:grpSpPr>
          <a:xfrm>
            <a:off x="8887969" y="4564978"/>
            <a:ext cx="914400" cy="310896"/>
            <a:chOff x="8092440" y="4069080"/>
            <a:chExt cx="914400" cy="310896"/>
          </a:xfrm>
        </p:grpSpPr>
        <p:sp>
          <p:nvSpPr>
            <p:cNvPr id="27" name="Rounded Rectangle 26"/>
            <p:cNvSpPr/>
            <p:nvPr/>
          </p:nvSpPr>
          <p:spPr>
            <a:xfrm>
              <a:off x="8092440" y="4069080"/>
              <a:ext cx="914400" cy="310896"/>
            </a:xfrm>
            <a:prstGeom prst="roundRect">
              <a:avLst/>
            </a:prstGeom>
            <a:solidFill>
              <a:srgbClr val="E8B1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92440" y="4078558"/>
              <a:ext cx="914400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1">
                  <a:solidFill>
                    <a:srgbClr val="FFFFFF"/>
                  </a:solidFill>
                  <a:latin typeface="Aptos"/>
                </a:defRPr>
              </a:pPr>
              <a:r>
                <a:rPr sz="1000" dirty="0"/>
                <a:t>LATER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8042147" y="5064103"/>
            <a:ext cx="3246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82F3A"/>
                </a:solidFill>
                <a:latin typeface="Aptos"/>
              </a:defRPr>
            </a:pPr>
            <a:r>
              <a:rPr sz="1300" dirty="0"/>
              <a:t>Consent-based aid integrations • outcome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" y="5872570"/>
            <a:ext cx="104241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EF674E"/>
                </a:solidFill>
                <a:latin typeface="Aptos"/>
              </a:defRPr>
            </a:pPr>
            <a:r>
              <a:rPr sz="1300" dirty="0"/>
              <a:t>Provider rules and award decisions remain authoritative.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1555" y="656701"/>
            <a:ext cx="21945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89D97"/>
                </a:solidFill>
                <a:latin typeface="Aptos"/>
              </a:defRPr>
            </a:pPr>
            <a:r>
              <a:rPr sz="2800" dirty="0">
                <a:solidFill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7E969D"/>
                </a:solidFill>
                <a:latin typeface="Aptos"/>
              </a:defRPr>
            </a:pPr>
            <a:r>
              <a:rPr>
                <a:solidFill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1908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E969D"/>
                </a:solidFill>
                <a:latin typeface="Aptos"/>
              </a:defRPr>
            </a:pPr>
            <a:r>
              <a:rPr>
                <a:solidFill/>
              </a:rPr>
              <a:t>EDUFUND  /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5585"/>
            <a:ext cx="27432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9D97"/>
                </a:solidFill>
                <a:latin typeface="Aptos"/>
              </a:defRPr>
            </a:pPr>
            <a:r>
              <a:rPr sz="1700" dirty="0">
                <a:solidFill/>
              </a:rPr>
              <a:t>EDUFUND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00863"/>
            <a:ext cx="6400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82F3A"/>
                </a:solidFill>
                <a:latin typeface="Aptos"/>
              </a:defRPr>
            </a:pPr>
            <a:r>
              <a:rPr dirty="0">
                <a:solidFill/>
              </a:rPr>
              <a:t>A funding plan</a:t>
            </a:r>
          </a:p>
          <a:p>
            <a:pPr algn="l">
              <a:spcAft>
                <a:spcPts val="1500"/>
              </a:spcAft>
              <a:defRPr sz="3600" b="1">
                <a:solidFill>
                  <a:srgbClr val="182F3A"/>
                </a:solidFill>
                <a:latin typeface="Aptos"/>
              </a:defRPr>
            </a:pPr>
            <a:r>
              <a:rPr dirty="0">
                <a:solidFill/>
              </a:rPr>
              <a:t>should create momentum.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41648"/>
            <a:ext cx="5943600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DEE2"/>
                </a:solidFill>
                <a:latin typeface="Aptos"/>
              </a:defRPr>
            </a:pPr>
            <a:r>
              <a:rPr sz="2100" dirty="0">
                <a:solidFill/>
              </a:rPr>
              <a:t>Discover relevant opportunities.</a:t>
            </a:r>
            <a:br>
              <a:rPr sz="2100" dirty="0"/>
            </a:br>
            <a:r>
              <a:rPr sz="2100" dirty="0">
                <a:solidFill/>
              </a:rPr>
              <a:t>Understand the gap.</a:t>
            </a:r>
            <a:br>
              <a:rPr sz="2100" dirty="0"/>
            </a:br>
            <a:r>
              <a:rPr sz="2100" dirty="0">
                <a:solidFill/>
              </a:rPr>
              <a:t>Prepare each application with evidence and care.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B732E1A-BDCB-2B81-93CA-A9BAF400460A}"/>
              </a:ext>
            </a:extLst>
          </p:cNvPr>
          <p:cNvGrpSpPr/>
          <p:nvPr/>
        </p:nvGrpSpPr>
        <p:grpSpPr>
          <a:xfrm>
            <a:off x="7964423" y="1828800"/>
            <a:ext cx="4069080" cy="4299712"/>
            <a:chOff x="7315200" y="1325880"/>
            <a:chExt cx="4069080" cy="4299712"/>
          </a:xfrm>
        </p:grpSpPr>
        <p:sp>
          <p:nvSpPr>
            <p:cNvPr id="11" name="Rounded Rectangle 10"/>
            <p:cNvSpPr/>
            <p:nvPr/>
          </p:nvSpPr>
          <p:spPr>
            <a:xfrm>
              <a:off x="7315200" y="1325880"/>
              <a:ext cx="3977639" cy="42976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B4B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7A59710-46DC-F8D6-3A02-EC323FA6213D}"/>
                </a:ext>
              </a:extLst>
            </p:cNvPr>
            <p:cNvGrpSpPr/>
            <p:nvPr/>
          </p:nvGrpSpPr>
          <p:grpSpPr>
            <a:xfrm>
              <a:off x="7662672" y="1783080"/>
              <a:ext cx="3721608" cy="3842512"/>
              <a:chOff x="7662672" y="1783080"/>
              <a:chExt cx="3721608" cy="3842512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7662672" y="1783080"/>
                <a:ext cx="3246120" cy="32316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900" b="1">
                    <a:solidFill>
                      <a:srgbClr val="189D97"/>
                    </a:solidFill>
                    <a:latin typeface="Aptos"/>
                  </a:defRPr>
                </a:pPr>
                <a:r>
                  <a:rPr sz="1500" dirty="0">
                    <a:solidFill/>
                  </a:rPr>
                  <a:t>THE PROMISE</a:t>
                </a:r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7726679" y="2432304"/>
                <a:ext cx="237744" cy="237744"/>
              </a:xfrm>
              <a:prstGeom prst="ellipse">
                <a:avLst/>
              </a:prstGeom>
              <a:solidFill>
                <a:srgbClr val="4976D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solidFill/>
                  </a:defRPr>
                </a:pPr>
                <a:endParaRPr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8138160" y="2423160"/>
                <a:ext cx="2377440" cy="29260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500" b="1">
                    <a:solidFill>
                      <a:srgbClr val="182F3A"/>
                    </a:solidFill>
                    <a:latin typeface="Aptos"/>
                  </a:defRPr>
                </a:pPr>
                <a:r>
                  <a:rPr dirty="0">
                    <a:solidFill/>
                  </a:rPr>
                  <a:t>Discover</a:t>
                </a: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7726679" y="3090672"/>
                <a:ext cx="237744" cy="237744"/>
              </a:xfrm>
              <a:prstGeom prst="ellipse">
                <a:avLst/>
              </a:prstGeom>
              <a:solidFill>
                <a:srgbClr val="189D9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solidFill/>
                  </a:defRPr>
                </a:pPr>
                <a:endParaRPr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8138160" y="3081528"/>
                <a:ext cx="2377440" cy="29260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500" b="1">
                    <a:solidFill>
                      <a:srgbClr val="182F3A"/>
                    </a:solidFill>
                    <a:latin typeface="Aptos"/>
                  </a:defRPr>
                </a:pPr>
                <a:r>
                  <a:rPr>
                    <a:solidFill/>
                  </a:rPr>
                  <a:t>Plan</a:t>
                </a: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7726679" y="3749039"/>
                <a:ext cx="237744" cy="237744"/>
              </a:xfrm>
              <a:prstGeom prst="ellipse">
                <a:avLst/>
              </a:prstGeom>
              <a:solidFill>
                <a:srgbClr val="E8B14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solidFill/>
                  </a:defRPr>
                </a:pPr>
                <a:endParaRPr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8138160" y="3739896"/>
                <a:ext cx="2377440" cy="29260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500" b="1">
                    <a:solidFill>
                      <a:srgbClr val="182F3A"/>
                    </a:solidFill>
                    <a:latin typeface="Aptos"/>
                  </a:defRPr>
                </a:pPr>
                <a:r>
                  <a:rPr>
                    <a:solidFill/>
                  </a:rPr>
                  <a:t>Prepare</a:t>
                </a:r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7726679" y="4407408"/>
                <a:ext cx="237744" cy="237744"/>
              </a:xfrm>
              <a:prstGeom prst="ellipse">
                <a:avLst/>
              </a:prstGeom>
              <a:solidFill>
                <a:srgbClr val="EF674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solidFill/>
                  </a:defRPr>
                </a:pPr>
                <a:endParaRPr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8138160" y="4398264"/>
                <a:ext cx="2377440" cy="29260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500" b="1">
                    <a:solidFill>
                      <a:srgbClr val="182F3A"/>
                    </a:solidFill>
                    <a:latin typeface="Aptos"/>
                  </a:defRPr>
                </a:pPr>
                <a:r>
                  <a:rPr>
                    <a:solidFill/>
                  </a:rPr>
                  <a:t>Control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8138160" y="5214112"/>
                <a:ext cx="3246120" cy="41148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300" b="1">
                    <a:solidFill>
                      <a:srgbClr val="182F3A"/>
                    </a:solidFill>
                    <a:latin typeface="Aptos"/>
                  </a:defRPr>
                </a:pPr>
                <a:r>
                  <a:rPr dirty="0">
                    <a:solidFill/>
                  </a:rPr>
                  <a:t>The student stays in control.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1023</Words>
  <Application>Microsoft Office PowerPoint</Application>
  <PresentationFormat>Widescreen</PresentationFormat>
  <Paragraphs>237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Kavipriya A</cp:lastModifiedBy>
  <cp:revision>6</cp:revision>
  <dcterms:created xsi:type="dcterms:W3CDTF">2013-01-27T09:14:16Z</dcterms:created>
  <dcterms:modified xsi:type="dcterms:W3CDTF">2026-09-25T13:52:36Z</dcterms:modified>
  <cp:category/>
</cp:coreProperties>
</file>