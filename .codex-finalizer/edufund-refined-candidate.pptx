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0bf0f37f744d9d" /><Relationship Type="http://schemas.openxmlformats.org/officeDocument/2006/relationships/extended-properties" Target="/docProps/app.xml" Id="R60c69b90835c49b0" /><Relationship Type="http://schemas.openxmlformats.org/officeDocument/2006/relationships/officeDocument" Target="/ppt/presentation.xml" Id="R2bb77b945e2147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22de740ef34937"/>
  </p:sldMasterIdLst>
  <p:notesMasterIdLst>
    <p:notesMasterId xmlns:r="http://schemas.openxmlformats.org/officeDocument/2006/relationships" r:id="Rd2ebc4006fef4060"/>
  </p:notesMasterIdLst>
  <p:sldIdLst>
    <p:sldId xmlns:r="http://schemas.openxmlformats.org/officeDocument/2006/relationships" id="256" r:id="R72e56ffd3c7a4036"/>
    <p:sldId xmlns:r="http://schemas.openxmlformats.org/officeDocument/2006/relationships" id="257" r:id="Rb88a3765e35c4b50"/>
    <p:sldId xmlns:r="http://schemas.openxmlformats.org/officeDocument/2006/relationships" id="258" r:id="R0cf864f55f4541c6"/>
    <p:sldId xmlns:r="http://schemas.openxmlformats.org/officeDocument/2006/relationships" id="259" r:id="R8a5b5dde2348413a"/>
    <p:sldId xmlns:r="http://schemas.openxmlformats.org/officeDocument/2006/relationships" id="260" r:id="R265ca47ac5cf4679"/>
    <p:sldId xmlns:r="http://schemas.openxmlformats.org/officeDocument/2006/relationships" id="261" r:id="Rc3f4f9e3e9644bc8"/>
    <p:sldId xmlns:r="http://schemas.openxmlformats.org/officeDocument/2006/relationships" id="262" r:id="R8ca3f63710e146d7"/>
    <p:sldId xmlns:r="http://schemas.openxmlformats.org/officeDocument/2006/relationships" id="263" r:id="R23f2e2a852db46da"/>
    <p:sldId xmlns:r="http://schemas.openxmlformats.org/officeDocument/2006/relationships" id="264" r:id="R643cd83c59334626"/>
    <p:sldId xmlns:r="http://schemas.openxmlformats.org/officeDocument/2006/relationships" id="265" r:id="R6b70af5bd9d443c7"/>
    <p:sldId xmlns:r="http://schemas.openxmlformats.org/officeDocument/2006/relationships" id="266" r:id="Rd3881a46f8ae42e1"/>
    <p:sldId xmlns:r="http://schemas.openxmlformats.org/officeDocument/2006/relationships" id="267" r:id="R05b6f6621e0840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4ad4df456a4636" /><Relationship Type="http://schemas.openxmlformats.org/officeDocument/2006/relationships/slideMaster" Target="/ppt/slideMasters/slideMaster1.xml" Id="R2b22de740ef34937" /><Relationship Type="http://schemas.openxmlformats.org/officeDocument/2006/relationships/notesMaster" Target="/ppt/notesMasters/notesMaster1.xml" Id="Rd2ebc4006fef4060" /><Relationship Type="http://schemas.openxmlformats.org/officeDocument/2006/relationships/presProps" Target="/ppt/presProps.xml" Id="R88275eb481524d8c" /><Relationship Type="http://schemas.openxmlformats.org/officeDocument/2006/relationships/tableStyles" Target="/ppt/tableStyles.xml" Id="Rf34306e57a514adc" /><Relationship Type="http://schemas.openxmlformats.org/officeDocument/2006/relationships/slide" Target="/ppt/slides/slide1.xml" Id="R72e56ffd3c7a4036" /><Relationship Type="http://schemas.openxmlformats.org/officeDocument/2006/relationships/slide" Target="/ppt/slides/slide2.xml" Id="Rb88a3765e35c4b50" /><Relationship Type="http://schemas.openxmlformats.org/officeDocument/2006/relationships/slide" Target="/ppt/slides/slide3.xml" Id="R0cf864f55f4541c6" /><Relationship Type="http://schemas.openxmlformats.org/officeDocument/2006/relationships/slide" Target="/ppt/slides/slide4.xml" Id="R8a5b5dde2348413a" /><Relationship Type="http://schemas.openxmlformats.org/officeDocument/2006/relationships/slide" Target="/ppt/slides/slide5.xml" Id="R265ca47ac5cf4679" /><Relationship Type="http://schemas.openxmlformats.org/officeDocument/2006/relationships/slide" Target="/ppt/slides/slide6.xml" Id="Rc3f4f9e3e9644bc8" /><Relationship Type="http://schemas.openxmlformats.org/officeDocument/2006/relationships/slide" Target="/ppt/slides/slide7.xml" Id="R8ca3f63710e146d7" /><Relationship Type="http://schemas.openxmlformats.org/officeDocument/2006/relationships/slide" Target="/ppt/slides/slide8.xml" Id="R23f2e2a852db46da" /><Relationship Type="http://schemas.openxmlformats.org/officeDocument/2006/relationships/slide" Target="/ppt/slides/slide9.xml" Id="R643cd83c59334626" /><Relationship Type="http://schemas.openxmlformats.org/officeDocument/2006/relationships/slide" Target="/ppt/slides/slide10.xml" Id="R6b70af5bd9d443c7" /><Relationship Type="http://schemas.openxmlformats.org/officeDocument/2006/relationships/slide" Target="/ppt/slides/slide11.xml" Id="Rd3881a46f8ae42e1" /><Relationship Type="http://schemas.openxmlformats.org/officeDocument/2006/relationships/slide" Target="/ppt/slides/slide12.xml" Id="R05b6f6621e0840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dec2701d1543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4c44a4692b40c9" /><Relationship Type="http://schemas.openxmlformats.org/officeDocument/2006/relationships/notesMaster" Target="/ppt/notesMasters/notesMaster1.xml" Id="Raa50e79b52b349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97e690e5b64d63" /><Relationship Type="http://schemas.openxmlformats.org/officeDocument/2006/relationships/notesMaster" Target="/ppt/notesMasters/notesMaster1.xml" Id="R71d185955d0740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cbec0ad66840e9" /><Relationship Type="http://schemas.openxmlformats.org/officeDocument/2006/relationships/notesMaster" Target="/ppt/notesMasters/notesMaster1.xml" Id="R484bc0770d7a44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859a1772b3476c" /><Relationship Type="http://schemas.openxmlformats.org/officeDocument/2006/relationships/notesMaster" Target="/ppt/notesMasters/notesMaster1.xml" Id="Rfb0f150fa46d40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40607c5c1a42e0" /><Relationship Type="http://schemas.openxmlformats.org/officeDocument/2006/relationships/notesMaster" Target="/ppt/notesMasters/notesMaster1.xml" Id="R20817c4059c441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48bc00ff9c4d0c" /><Relationship Type="http://schemas.openxmlformats.org/officeDocument/2006/relationships/notesMaster" Target="/ppt/notesMasters/notesMaster1.xml" Id="R5a27ad94da7342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f265478aec46ba" /><Relationship Type="http://schemas.openxmlformats.org/officeDocument/2006/relationships/notesMaster" Target="/ppt/notesMasters/notesMaster1.xml" Id="R238a7f4cd03743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29478701b54027" /><Relationship Type="http://schemas.openxmlformats.org/officeDocument/2006/relationships/notesMaster" Target="/ppt/notesMasters/notesMaster1.xml" Id="R81f74efc35a045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2999bfc99d4a6d" /><Relationship Type="http://schemas.openxmlformats.org/officeDocument/2006/relationships/notesMaster" Target="/ppt/notesMasters/notesMaster1.xml" Id="Rfd0436efa0d0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3b412b763646d4" /><Relationship Type="http://schemas.openxmlformats.org/officeDocument/2006/relationships/notesMaster" Target="/ppt/notesMasters/notesMaster1.xml" Id="R213e262d6e3e4b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bb4bf4d564499b" /><Relationship Type="http://schemas.openxmlformats.org/officeDocument/2006/relationships/notesMaster" Target="/ppt/notesMasters/notesMaster1.xml" Id="Rdda85274b82c4a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30a7c2896b4857" /><Relationship Type="http://schemas.openxmlformats.org/officeDocument/2006/relationships/notesMaster" Target="/ppt/notesMasters/notesMaster1.xml" Id="Rdfa610abebdf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student outcome: this product turns funding from a search task into a decision process.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problem human and specific. Avoid discussing generic AI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original deck used six agents. Here they are clearer and map directly to the working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confidence meter does not promise awards. Make that boundary explicit.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scenario simulator supports real values from the student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has the original content but replaces emotive icons and slogans with a clean trust statement.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 difference between a profile-supported statement and a claim that needs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pipeline reduces last-minute stress by showing what can be reused and what must be completed first.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technical architecture short. Judges should know the stack supports the experience they saw.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direct demo script, based on the user manual and working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claim outcomes that have not been measured. The value is the transparency and actionability of the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judges to see the live product and repeat the human-control promise.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bdb12787349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38f58ddce4868" /><Relationship Type="http://schemas.openxmlformats.org/officeDocument/2006/relationships/slideLayout" Target="/ppt/slideLayouts/slideLayout1.xml" Id="Rb215ca6e34a540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5ca6e34a540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5d0ecc7734517" /><Relationship Type="http://schemas.openxmlformats.org/officeDocument/2006/relationships/notesSlide" Target="/ppt/notesSlides/notesSlide1.xml" Id="R865a376f0eca4e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13f90d4ee476f" /><Relationship Type="http://schemas.openxmlformats.org/officeDocument/2006/relationships/notesSlide" Target="/ppt/notesSlides/notesSlide2.xml" Id="R75e7287047104c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be752fe3f42a6" /><Relationship Type="http://schemas.openxmlformats.org/officeDocument/2006/relationships/notesSlide" Target="/ppt/notesSlides/notesSlide3.xml" Id="R465dc5510c1e41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cdcf77b5c4fd6" /><Relationship Type="http://schemas.openxmlformats.org/officeDocument/2006/relationships/notesSlide" Target="/ppt/notesSlides/notesSlide4.xml" Id="Rb47a957459b54b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5d586901548cf" /><Relationship Type="http://schemas.openxmlformats.org/officeDocument/2006/relationships/notesSlide" Target="/ppt/notesSlides/notesSlide5.xml" Id="Rb44e4495150844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2c41e19194754" /><Relationship Type="http://schemas.openxmlformats.org/officeDocument/2006/relationships/notesSlide" Target="/ppt/notesSlides/notesSlide6.xml" Id="R14bd0ac2a4574b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fd69834f146e3" /><Relationship Type="http://schemas.openxmlformats.org/officeDocument/2006/relationships/notesSlide" Target="/ppt/notesSlides/notesSlide7.xml" Id="Rc6c120cad58d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a8bec9cc444d2" /><Relationship Type="http://schemas.openxmlformats.org/officeDocument/2006/relationships/notesSlide" Target="/ppt/notesSlides/notesSlide8.xml" Id="R051f2b71bf5644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d25e3457a45e9" /><Relationship Type="http://schemas.openxmlformats.org/officeDocument/2006/relationships/notesSlide" Target="/ppt/notesSlides/notesSlide9.xml" Id="Rd644e1f097a749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b4c9ce9b74dc4" /><Relationship Type="http://schemas.openxmlformats.org/officeDocument/2006/relationships/notesSlide" Target="/ppt/notesSlides/notesSlide10.xml" Id="R08001bf4f99149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e8f99e1b04dba" /><Relationship Type="http://schemas.openxmlformats.org/officeDocument/2006/relationships/notesSlide" Target="/ppt/notesSlides/notesSlide11.xml" Id="R0cfdf55db37947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299bff4bb41f3" /><Relationship Type="http://schemas.openxmlformats.org/officeDocument/2006/relationships/notesSlide" Target="/ppt/notesSlides/notesSlide12.xml" Id="R4aaebee36fa14d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0336D-694E-498C-A8F9-FB40D205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AF7F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DEFDE-4C93-49ED-A2B9-AE3A007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61B99-7A63-4048-8E2E-2D45662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EDUFUND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C60F8-E589-42BF-8283-F608CB55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Funding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is a strategy.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262AB-86DB-4C90-876C-8B4E50A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0E7E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0E7E4"/>
                </a:solidFill>
                <a:latin typeface="Aptos"/>
                <a:ea typeface="Aptos"/>
                <a:cs typeface="Aptos"/>
              </a:rPr>
              <a:t>An AI-guided workspace that turns a student profile into a funding plan and a safer application process.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B0C0A-3BEF-4989-9AC1-EA53450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428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96B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002D4-C6A2-4F78-8405-D3C872EC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2763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HACKATHON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6C7E6-E470-4276-A580-7024A7E0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857250"/>
            <a:ext cx="5953125" cy="5010150"/>
          </a:xfrm>
          <a:prstGeom xmlns:a="http://schemas.openxmlformats.org/drawingml/2006/main" prst="roundRect">
            <a:avLst>
              <a:gd name="adj" fmla="val 1521"/>
            </a:avLst>
          </a:prstGeom>
          <a:solidFill xmlns:a="http://schemas.openxmlformats.org/drawingml/2006/main">
            <a:srgbClr val="E9F3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9E89D-10E6-45A9-9C9A-E7BD4ED3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47800"/>
            <a:ext cx="47625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36151-6C0C-429D-909E-A1C08EB0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43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Annual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CB772-3E0D-4C2C-A94F-3C0D8CAF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193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₹2,00,000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91F26-5FAC-49C0-ADD1-0E5CAB2A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3762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7E5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816C7-E0AC-475A-8A01-D7161D8A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95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Confirmed aid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A8FA3-B571-4BB7-B3B2-D4226EED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71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rPr>
              <a:t>₹30,000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A4E72-6727-4819-95A8-6A376583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Remaining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09914-317A-4D7D-8732-5C64905B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96B5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96B53"/>
                </a:solidFill>
                <a:latin typeface="Aptos Display"/>
                <a:ea typeface="Aptos Display"/>
                <a:cs typeface="Aptos Display"/>
              </a:rPr>
              <a:t>₹1,70,000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28358-790E-4B23-9BEB-494E1402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72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A plan starts 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CF9A1-02B8-4807-B772-917D6BB7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4BC31A-5FEE-4DDF-B793-9FC85DE6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867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EB8E0B-C491-4C1A-AABD-C66EA4A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B2752-7786-4F6F-8618-BFAAA0A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Students face a funding maze, not a single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4649B-1BFB-4D71-A483-71BE0402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Scholarships, grants, fee waivers, documents, and deadlines live in different places.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D4988-DD21-45A9-97EC-E2A049C8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D6D4D-E56B-48CE-A773-2DD44AB4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6F027-793F-4BBE-B398-AB8AEE20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EC3AF-6AFF-4AD7-A35C-923D0E38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BC8C7-271A-4E8D-BE2E-E0A1B8E3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05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Opportunities are fragmented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BDB47-58B1-4EC1-9B03-3D54D1E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Students search across portals, university pages, and grant listings.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4C4F5-FA05-43D0-8E85-22B23C42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02965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904DD-FD70-47A3-9370-80D72813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F2D23-0DE9-4C60-80E6-C9196AD9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527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Eligibility hides in details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C6640-86C6-4B8B-9E8C-9E1C148E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Course, grade, income, and document rules can invalidate an application.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5883E-4FC5-42ED-94EB-98B66117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02965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918C3-4991-4FB4-9B3D-B4A55D7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ED5CF-D00F-4D4F-A391-D32F5A4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005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Application effort repeats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1D6256-14FE-4DFF-B7BB-33A9BA56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2907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The same marksheets, income proof, and evidence appear across applications.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58EFB-4589-4263-8502-3C991BAF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102965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267EC9-C7EC-4DAD-9E5F-A4ADFEA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96B5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6B5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A55D9-A0A6-4B73-92FA-62F628C3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482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The real funding gap stays unclear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ED42A-EBE0-4439-96A5-9A37A898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768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Most directories do not calculate the cost still left to cover.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3584A-6A90-4627-AD4F-A099786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102965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92977-9C0B-4896-B6F1-3FD57E67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EduFund connects the decisions that students currently make separately.</a:t>
            </a:r>
          </a:p>
        </p:txBody>
      </p:sp>
    </p:spTree>
    <p:extLst>
      <p:ext uri="{BB962C8B-B14F-4D97-AF65-F5344CB8AC3E}">
        <p14:creationId xmlns:p14="http://schemas.microsoft.com/office/powerpoint/2010/main" val="420718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471F14-D2A6-4834-A030-41D164D7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THE EDUFUND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E5608-1AB8-40D1-9AD3-4FB70AA8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733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Six agents. One student journey.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05A3D-B12C-4735-9627-4B62A879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017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Each agent handles a different part of the funding workflow, while the student stays in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D8773-B5E2-48F0-94EC-9D05BA3D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812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6B39E-D908-4BCA-8CDF-E46DC52A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90800"/>
            <a:ext cx="1047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E5D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087AF-760C-450E-94AA-E35A0998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193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F55B2-4BFC-4ECF-AE10-C29F5657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860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D4269-0693-4106-BAC2-68FC99EB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Captures study, finances, and goals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63962-1ABA-41E4-8CFF-0206A996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5F5CC-AA8B-445E-B4FD-6C33A39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90800"/>
            <a:ext cx="1047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F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AB988-3276-401C-B3E4-05C39552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193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61DF5-E998-4EE9-820D-AA03C749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860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33BB0-E173-4A19-BACF-B8B771E5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Finds profile-relevant opportunities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9BFED2-6007-4118-A763-4763AE8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30FBA-C751-4509-8E05-3F5D945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90800"/>
            <a:ext cx="1047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6C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205DD-13AF-4F58-9B28-49D83A28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B15F4-C6EB-424E-9DD1-58EB88C9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860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Eligibility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C8D76-C8AB-4AF4-A4B2-6D81156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Checks rules against the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7D66A-6BC9-4975-A5C7-54EF23C1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957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82EDE-E317-4DC2-A771-E090B9A7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1047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9A3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E3211-AE06-4D3A-93D2-20DA269D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338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3698D-E9F3-4A62-98D3-DCAA3CD0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005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Planner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5BBBD-6D6C-47E5-8385-3A9AF2DD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Ranks an expected-value portfolio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9AFAD5-F472-41CB-BD52-47BDD1EE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957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E3EC7-9580-4914-85AC-389BF7F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05300"/>
            <a:ext cx="1047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5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36E927-6C39-4291-9E54-7869F7D9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338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D9682-9C85-41B2-80A4-02C3D3FC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6005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8B2598-99F6-4336-9C73-FF0488D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914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Prepares documents and essay support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1710E-72E8-4BA9-9B8C-0123E89D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957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E46AAB-78A0-4BA5-9FA5-534A20F2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305300"/>
            <a:ext cx="1047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95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8530A5-18AF-4792-AFAF-BAB17F33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544A82-9D24-4B5D-94FC-B0B0EBC7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005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Deadline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5490D2-1EAA-4B6F-A9F7-C09BD811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Surfaces collisions and reuse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6B719B-7195-4B7B-B1DA-2656D6B5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80E6D8-D5E1-4A48-B730-B13C272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4276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ACBF1-F8DD-46C7-841C-5A511EBE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FINANCIAL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21777-E541-4747-9879-084A4CE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A funding plan begins with the amount still left to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0AE6F-80EB-4557-B26C-74E8E5F3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The planner frames each recommendation against the student's target annual cost and confirmed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143D7-56FE-4B72-A1BB-3182F9D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9DD74-A047-43D4-9750-14636179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E972E-5F86-4A92-A125-3B95D6A6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BC5E-D920-4617-BCD5-22D5983C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104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4B1F4-294C-40F0-8203-FC17892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812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D4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D4D0"/>
                </a:solidFill>
                <a:latin typeface="Aptos"/>
                <a:ea typeface="Aptos"/>
                <a:cs typeface="Aptos"/>
              </a:rPr>
              <a:t>Target annual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CB4FE-EB1B-4997-88F2-041C78F0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₹ 2,00,000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D873B-B7E7-4063-916E-F361B6CC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384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D4D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7D4D0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D9594-AEF1-46A8-AEC2-7FD7F9CE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812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D4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D4D0"/>
                </a:solidFill>
                <a:latin typeface="Aptos"/>
                <a:ea typeface="Aptos"/>
                <a:cs typeface="Aptos"/>
              </a:rPr>
              <a:t>Confirmed aid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88595-FBDA-46A8-8BF0-3069DF8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47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FE5D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BFE5DC"/>
                </a:solidFill>
                <a:latin typeface="Aptos Display"/>
                <a:ea typeface="Aptos Display"/>
                <a:cs typeface="Aptos Display"/>
              </a:rPr>
              <a:t>− ₹ 30,000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D3117-AFEA-41C6-970A-696C39ED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384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7D4D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7D4D0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2E4DE-8F35-4249-9882-AB6D6EDA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81275"/>
            <a:ext cx="238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7D4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D4D0"/>
                </a:solidFill>
                <a:latin typeface="Aptos"/>
                <a:ea typeface="Aptos"/>
                <a:cs typeface="Aptos"/>
              </a:rPr>
              <a:t>Remaining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5F7E8-2CF2-480D-8F51-804DEB4D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479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7C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D7CB"/>
                </a:solidFill>
                <a:latin typeface="Aptos Display"/>
                <a:ea typeface="Aptos Display"/>
                <a:cs typeface="Aptos Display"/>
              </a:rPr>
              <a:t>₹ 1,70,000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37D56-FBB0-4AC7-8C79-1A6E43A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Funding Confidence Meter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8CB5A-26E1-440E-B757-B482F60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29125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Separates what is already confirmed from probable, possible, and uncovered funding.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E9565-E4AD-41D1-A96C-B1D2700E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714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8795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E68A9-8DBC-4566-94A0-BA8246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Confirmed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F8E37-F212-4487-A8B7-E39A80F5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43500"/>
            <a:ext cx="2476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88F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D759B-4AF8-4897-BC14-AFFC9833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Probable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55E70-658E-4D6A-8899-911516B8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43500"/>
            <a:ext cx="17145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5486C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2B4A2-CE60-4CA0-A07D-097C2069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483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Possible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92E85-9D28-46EB-AC24-3341AAB2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2571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96B5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580CB-C3B4-4F89-80C9-F2D17D8C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48300"/>
            <a:ext cx="2571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Uncovered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D349DB-95A9-43F9-B650-2AEB40A1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6B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96B53"/>
                </a:solidFill>
                <a:latin typeface="Aptos"/>
                <a:ea typeface="Aptos"/>
                <a:cs typeface="Aptos"/>
              </a:rPr>
              <a:t>Decision support only. Funding providers make award decisions.</a:t>
            </a:r>
          </a:p>
        </p:txBody>
      </p:sp>
    </p:spTree>
    <p:extLst>
      <p:ext uri="{BB962C8B-B14F-4D97-AF65-F5344CB8AC3E}">
        <p14:creationId xmlns:p14="http://schemas.microsoft.com/office/powerpoint/2010/main" val="7314892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62B96-2FCB-45BA-849F-77559A21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PLANNER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182F3-5BE4-4C5D-AC5D-221DDCD0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Expected value helps prioritise application effort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89C71-CBC4-4338-9CBB-43AB5635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The portfolio ranks opportunities by funding amount, profile match, and deadline urgency.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96944-0AEF-40FE-B0C6-72B7C60E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B60FE-71F4-44A2-891D-4151669D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DEA7A-3562-47FF-B2BD-925F6BD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81095-42D9-4A43-8F5B-96776BAB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09587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C3AA9-8AB6-4EE1-AD51-DB6C68F4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Expected 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02856-0ED2-45C5-A381-59AA1799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Funding amount  ×  match score  ×  urgency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C6EAD-0AF1-423A-A14F-74191BE3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42100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ACC55-829E-4E4D-AF30-E3F6DCC9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High-value opportunities can move ahead of lower-fit listings, even when both look attractive at first glance.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A97B9-DAF1-47B1-9515-F02E7A23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5240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88F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DDC86-021A-4696-986D-DB4565D1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13716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RANKED PORTFOLIO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F2F40-6841-4ED5-AE1D-8A719A1E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572125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9F3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F8950-1E6A-4608-8C8B-F2B6423B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05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What-if scenario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563C5-485F-414E-8884-35BD949A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62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What happens if confirmed aid increases?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FFE50-EC49-4480-847E-6D4CB899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What happens if work-study income is added?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E4908-49AD-49EB-890E-7C479B20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433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The planner recalculates the remaining gap and recommended portfolio.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03E09-D1E4-4201-9423-88311916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38700"/>
            <a:ext cx="27241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8F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0A57B-DA97-4E9C-98DA-A0E3B533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838700"/>
            <a:ext cx="114300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5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D53A8-5A71-401E-911A-2F2C9E13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435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Gap coverage changes in real time</a:t>
            </a:r>
          </a:p>
        </p:txBody>
      </p:sp>
    </p:spTree>
    <p:extLst>
      <p:ext uri="{BB962C8B-B14F-4D97-AF65-F5344CB8AC3E}">
        <p14:creationId xmlns:p14="http://schemas.microsoft.com/office/powerpoint/2010/main" val="953374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B5E394-A438-4EAE-9FB0-F934D098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APPLICATION AUTOPILOT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EC39C-C605-4FC0-8BA4-DCDFE901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Preparation gets faster. Submission remains human.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213B1-9120-444C-AD91-2397B7F0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The studio drafts against an opportunity prompt, checks requirements, and places review before finalisation.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C05B4-7BB5-4B87-B868-C39BC93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A9861-60ED-427A-8D98-9C58769E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4C74A-B82D-403E-BEE3-F358F731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D3385-80EE-469A-9A23-081A6EC6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2438400" cy="202882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72924-454D-4C63-B922-A358B64B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D67E6-185E-45D0-A23E-A1902468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Opportunity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3C42A-DBDF-4499-B1F7-C73102FD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971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Uses the selected programme's essay prompt and document 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C89D5-60C7-456B-9AAD-47FBBFB3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86150"/>
            <a:ext cx="2476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8F8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26BD7-F01D-4363-B4CC-6BB95A6E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86025"/>
            <a:ext cx="2438400" cy="202882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6A285-0DDE-4BD3-ADE4-ECA49227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B6842-40BE-4205-9DB1-1C29CC63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Tailored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C20D0-FBB5-4E18-810B-E3AC6E32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1971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Builds a response using profile information and the student's edits.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C3B7C-6B5F-4122-85ED-B4C780B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86150"/>
            <a:ext cx="2476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8F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C2172-0C38-481D-A5B6-25CD80D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2438400" cy="202882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C2DBC3-740D-45D8-AEF9-B535F20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E5E39-C784-46DD-8CEB-FD7992D1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Tone refinement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6FED7-3E1D-4298-ABCC-4CF087F0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971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Supports concise, persuasive, and academic rewrites.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E3887-1CA9-4C90-B983-CD80AB42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2476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88F8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05CC6-7784-4F1B-AD56-DDE2EB1D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86025"/>
            <a:ext cx="2438400" cy="202882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7FCB3-3F9C-4209-93C8-DEE0CABF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38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8795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8795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9CBD6-BF96-436A-B10C-6A633422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52775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Student authorisation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1E936-557C-44F6-967D-A251780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19716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The student reviews the final packet before visiting the official portal.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2FF8F-9B43-418C-8ABC-0F2A8A61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1104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DD550C-E0ED-4F17-B1D0-08822B0A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1476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FE5D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E5DC"/>
                </a:solidFill>
                <a:latin typeface="Aptos"/>
                <a:ea typeface="Aptos"/>
                <a:cs typeface="Aptos"/>
              </a:rPr>
              <a:t>Safety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6C305C-7A3B-46AA-A020-6AA4E8A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62575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EduFund never submits forms or financial documents without explicit student review.</a:t>
            </a:r>
          </a:p>
        </p:txBody>
      </p:sp>
    </p:spTree>
    <p:extLst>
      <p:ext uri="{BB962C8B-B14F-4D97-AF65-F5344CB8AC3E}">
        <p14:creationId xmlns:p14="http://schemas.microsoft.com/office/powerpoint/2010/main" val="37817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2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CE041-BF1B-4A28-A2DE-C8926DC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APPLICATION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861D2-4DD6-4830-BBFA-EDC8220D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Evidence before confidence.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26F2B-7F3F-46F4-9446-8DE43B2E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01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DE4E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DE4E0"/>
                </a:solidFill>
                <a:latin typeface="Aptos"/>
                <a:ea typeface="Aptos"/>
                <a:cs typeface="Aptos"/>
              </a:rPr>
              <a:t>The system checks what the draft says against what the student's profile can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83513-89D3-4DE2-93F3-2EF62BF4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2675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9FF00-9B74-400F-957A-A449DDC4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Essay Evidence Checker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00E48-9EED-4D96-9960-0AB67363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Supported profile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9FD26-4D7C-4A94-84BB-08DF28C1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Course, GPA, achievements, and interests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5900F-56AE-46B8-8484-EF414F05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C2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C2B6"/>
                </a:solidFill>
                <a:latin typeface="Aptos"/>
                <a:ea typeface="Aptos"/>
                <a:cs typeface="Aptos"/>
              </a:rPr>
              <a:t>Claims to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FC98F-2DB1-432D-AA84-1649F2C0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 statements that do not appear in the saved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29AA9-B406-492B-98A8-89D345FB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52675"/>
            <a:ext cx="5715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23B49"/>
          </a:solidFill>
          <a:ln xmlns:a="http://schemas.openxmlformats.org/drawingml/2006/main" w="9525">
            <a:solidFill>
              <a:srgbClr val="28596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7F4DA-7858-4457-9175-CA80142B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Document Auditor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5CEB4-F7E6-44DE-BCF3-A681F9FB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1945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6CC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CCC6"/>
                </a:solidFill>
                <a:latin typeface="Aptos"/>
                <a:ea typeface="Aptos"/>
                <a:cs typeface="Aptos"/>
              </a:rPr>
              <a:t>Required documents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9A3B6-2FFA-4521-BB33-8D4EFAA7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052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Marksheets, income proof, letters, and programme-specific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3422F-2EDD-4BDD-A00F-71E00D34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2000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C2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C2B6"/>
                </a:solidFill>
                <a:latin typeface="Aptos"/>
                <a:ea typeface="Aptos"/>
                <a:cs typeface="Aptos"/>
              </a:rPr>
              <a:t>Readiness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33C29-DDBF-4478-BF09-5479EDDD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Shows missing items before the student starts the provider's application 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CBC5DC-3466-4BE4-A484-1B3198A5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7701E-2102-48FD-BDEE-9C92A336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0029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D16B2-8740-4AA5-A84C-564E905E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PIPELINE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53BC8-8507-4FD9-8D8B-33295003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One document can unlock several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58486-9924-44B8-9241-B47BAC32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The pipeline identifies reusable evidence and deadline windows that need attention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B494F-0707-4227-B7A8-1621C33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45B0B-E7CA-432D-8FB1-FAC7D750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D97E0-FEE2-426B-96A0-6C76D71B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ED564-0301-4F3D-9878-79ACC649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143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8A60-46F1-410A-9CB6-B90D0CC8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Document Reuse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0839A-1608-40B1-AF81-41C961BB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Income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E930E-AF51-449D-9DB8-4F5B317A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90925"/>
            <a:ext cx="4152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7C715-54E1-4304-8AAF-9D9B6CA1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95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Scholarship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B4252-A0DA-4A19-A515-4E39F8A2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195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Scholarship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A669A-4B9C-42BF-86B2-7AF68EAA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Fee waiver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48EF7-0AEC-4F81-A7EE-A99163CA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One prepared document can satisfy several active requirements.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56528-C46C-4EDA-AD35-E4ACB3CC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5524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9F3F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67B5B-B0F0-40F8-AA08-4A801E3A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3476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Deadline Collision Detector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30C29-5C07-4541-87C7-B90E2677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4802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6B5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96B53"/>
                </a:solidFill>
                <a:latin typeface="Aptos Display"/>
                <a:ea typeface="Aptos Display"/>
                <a:cs typeface="Aptos Display"/>
              </a:rPr>
              <a:t>7 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CB04D-3900-4F46-BF47-7BCF22B3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14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before the closest deadline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4A31B-DA7E-4FB0-9D78-2D65784E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343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F258C-595D-4ED1-9FD7-125D577B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E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E3C"/>
                </a:solidFill>
                <a:latin typeface="Aptos"/>
                <a:ea typeface="Aptos"/>
                <a:cs typeface="Aptos"/>
              </a:rPr>
              <a:t>Flags active applications that close in the same seven-day window.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31358-E1F7-47E0-8DC5-399C334B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Use the signal to sequence writing, review, and document collection.</a:t>
            </a:r>
          </a:p>
        </p:txBody>
      </p:sp>
    </p:spTree>
    <p:extLst>
      <p:ext uri="{BB962C8B-B14F-4D97-AF65-F5344CB8AC3E}">
        <p14:creationId xmlns:p14="http://schemas.microsoft.com/office/powerpoint/2010/main" val="11400747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7EC08-46D0-4172-95BA-C39AB440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EC56E-A5AE-4532-930B-1FA51FBE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A deployable web platform with modular agent services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97D50-1937-4E44-971C-EF25EE99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The interface, API, data model, and planning logic remain separate so the product can grow safely.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BF883-59E6-465D-8B3D-00F3A01F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9C7A9-D2EF-4753-8A4C-093D070B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507AB-25B2-45E6-B18B-5B4597CE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F49EF-8FE8-4B8C-8B98-C96ED336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476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446E3-4EA4-43EB-AF2F-CB808391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2415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7AFC1B-E3DB-4DEB-8C32-157D61D2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765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React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F18E5-902E-45EA-A244-FCE80100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623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Responsive student interface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Professional icon system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INR and USD display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C4D3A-A795-4DDC-9E43-C8EECB4C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476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0551D-D195-4612-9F6E-C023316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72415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18497-AC78-4956-A207-90A3F17A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765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73E9E-AAAA-442E-A46F-538003FF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623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REST endpoints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Pydantic schemas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Profile and planning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B6737-1E38-4475-BCFB-9DFAF68E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476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31846-8AC0-4C88-AF73-76147CF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2415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4D220-C00B-42C3-B13B-FD6D8DA6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765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Agent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D62D4-7099-475A-9DAA-761B17D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5623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Discovery and eligibility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Funding planner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Autopilot and deadline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5D470-1393-4920-B9BC-CBC257D6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476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80528-C257-4E6A-A892-7D84A930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24150"/>
            <a:ext cx="428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B8AB9-E260-44FB-8655-DF212896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765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SQLite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5AF72-41B7-4DCB-8FEE-F362CBD0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62350"/>
            <a:ext cx="186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Account records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Student profiles</a:t>
            </a:r>
          </a:p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Application pipeline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B3011-D383-4BE1-AB0B-A61429B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Frontend and backend deploy independently through a configured API URL.</a:t>
            </a:r>
          </a:p>
        </p:txBody>
      </p:sp>
    </p:spTree>
    <p:extLst>
      <p:ext uri="{BB962C8B-B14F-4D97-AF65-F5344CB8AC3E}">
        <p14:creationId xmlns:p14="http://schemas.microsoft.com/office/powerpoint/2010/main" val="542419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6876A-E2DB-44A2-882B-6E96B179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0B832-0FD0-454A-B83C-1B1DFFDC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A clear two-minute product walk-through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52441-252A-44DA-93DE-C2FE18F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Start with the student's need, then show the plan and the protective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8CBDF-2FDB-466C-8885-345DC72E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F870E-C11A-45EE-965D-635F2A48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0168D-D8B8-4D67-8E79-E69921D8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58F13-B3B7-4476-AD81-3009FE37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860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6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6B5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570DA-C0D4-4044-B5E1-F7FAB611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Register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AA8F8-5E7D-49B0-A042-833AA6CB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Create an account and open the profile builder.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3DD0D-5AAE-4016-A929-BAE1EF5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1009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8F6A8-811E-452E-8957-F33CA278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6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6B5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F454C-92C8-407F-84E6-B0E92C28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860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3D8B2-BFC5-4447-BE4B-B22293E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Enter course, GPA, annual cost, confirmed aid, and achievements.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B3849-57BA-4D53-83F5-5296477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57550"/>
            <a:ext cx="1009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9E7D4-3EAF-47A4-A5FC-5E457234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6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6B5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6B03E-A222-4FB5-82B5-FC2AA89E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956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Planner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115CB-92F7-4D52-83AF-5B01CCC9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147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Show the gap, ranked portfolio, confidence meter, and scenario controls.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A1114-8C94-4475-83EA-975E46E9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67150"/>
            <a:ext cx="1009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CB80C-4CAF-4D89-82B6-19DD5428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6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6B5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2EA4C-D838-478B-BF59-18AE147E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052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Autopilot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26E5B-6A8D-4E05-A1CB-7D428745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243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Open one opportunity, audit documents, and run the essay evidence check.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2D947-5E4A-456A-86B4-107999C0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09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08442-6C05-4647-BBBD-2E8BB351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2440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6B5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6B5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79CB3-9AB3-4604-8892-905EC488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148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Pipeline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1FDA6-9924-47B6-9758-08004D34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339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Show document reuse and any deadline collision before moving the card forward.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0872C1-5F34-457E-952F-285B3F22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86350"/>
            <a:ext cx="10096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63959-E3A2-4BF7-A2ED-34687052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53075"/>
            <a:ext cx="12001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188F8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325818-D30A-4E91-A2BC-5B9F71FB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19750"/>
            <a:ext cx="1047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MESSAGE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6EAAF-7682-44FC-B35F-16E96DA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572125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26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633"/>
                </a:solidFill>
                <a:latin typeface="Aptos"/>
                <a:ea typeface="Aptos"/>
                <a:cs typeface="Aptos"/>
              </a:rPr>
              <a:t>The platform guides preparation. The student makes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10555639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A3376-DD44-4D9C-9EF4-A0BB6F8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88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8F8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82836-42B7-406B-B701-625F20B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E3C"/>
                </a:solidFill>
                <a:latin typeface="Aptos Display"/>
                <a:ea typeface="Aptos Display"/>
                <a:cs typeface="Aptos Display"/>
              </a:rPr>
              <a:t>A better funding process gives students more control over scarce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12455-87E1-455A-8CCA-81B95CDD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makes the next step visible before a deadline forces a rushed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55375-0AF6-4C65-8C14-696D2151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104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621CB-D6E8-4295-87A4-714E3C01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4E5-3B04-45F4-8687-0BCA52AD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60777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0777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60A92-7D0F-4F77-8DD8-BBD783C9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104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D3902-E21A-4023-831C-821B3B6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289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rPr>
              <a:t>Students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452CA-816E-4B3A-89C7-21377B8C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28900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E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E3C"/>
                </a:solidFill>
                <a:latin typeface="Aptos"/>
                <a:ea typeface="Aptos"/>
                <a:cs typeface="Aptos"/>
              </a:rPr>
              <a:t>Understand the funding gap and the order of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3703F-C8EB-43C2-AE19-6D42D56C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86125"/>
            <a:ext cx="1104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9F3F0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A7C04-1B0D-4A5D-AE70-7BCF07CE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8615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rPr>
              <a:t>Advisors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1FEA9-703B-4BC9-B916-6BDBDC63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86150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E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E3C"/>
                </a:solidFill>
                <a:latin typeface="Aptos"/>
                <a:ea typeface="Aptos"/>
                <a:cs typeface="Aptos"/>
              </a:rPr>
              <a:t>Review readiness through a shared plan rather than a scattered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7B49A-6E7C-44B3-B494-7A25FBFB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104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82F82-09E2-435B-A29F-D7584D6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43400"/>
            <a:ext cx="1714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88F8B"/>
                </a:solidFill>
                <a:latin typeface="Aptos Display"/>
                <a:ea typeface="Aptos Display"/>
                <a:cs typeface="Aptos Display"/>
              </a:rPr>
              <a:t>Institutions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1518E-6CB4-4167-BF90-30986EF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43400"/>
            <a:ext cx="7239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E3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E3C"/>
                </a:solidFill>
                <a:latin typeface="Aptos"/>
                <a:ea typeface="Aptos"/>
                <a:cs typeface="Aptos"/>
              </a:rPr>
              <a:t>Point students to official sources and clearer requirements.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A31C2-3C1A-404D-9B2E-32E5C317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104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9AA0D-1879-4379-90B2-93E7A666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7687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Provider rules and award decisions remain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1352557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26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BD4B4-BFB0-450E-9293-2698FC1D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0B26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86D55-AF5C-49ED-9888-9B2AABC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04850"/>
            <a:ext cx="33718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12465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704A9-B179-47FB-9D58-609157C1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81100"/>
            <a:ext cx="24193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18757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1D429-8709-4AC6-BE6F-EB5CC7CB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14668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BFE5D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E4172-1849-4C2E-BF97-416E0B99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EDUFUND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B33B5-F8E1-4F64-AA36-8EEF36B5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63341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funding plan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should create momentum.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25CDE-7543-4895-BE34-5B02455A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571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0E7E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0E7E4"/>
                </a:solidFill>
                <a:latin typeface="Aptos"/>
                <a:ea typeface="Aptos"/>
                <a:cs typeface="Aptos"/>
              </a:rPr>
              <a:t>Discover relevant opportunities. Understand the gap. Prepare each application with evidence and care.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A2034-FC4D-4C10-8296-9705577E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10668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96B5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9EA705-DCAE-492E-B9BE-3C0EED8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914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58AB7-F46A-4093-8899-D86BA0C9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Live product demonstration available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89988-1276-4D3B-9776-BE168C8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BC9C2"/>
                </a:solidFill>
                <a:latin typeface="Aptos"/>
                <a:ea typeface="Aptos"/>
                <a:cs typeface="Aptos"/>
              </a:rPr>
              <a:t>The student stays in control.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1E6E2-4CF5-4BAE-A0F5-5FC5DD9D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2476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EDUFUND  /  HACKATHON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64AED-497A-4315-A1F1-0B619F3C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77000"/>
            <a:ext cx="438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9BC9C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BC9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9509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2026-09-25T03:25:06.6020000Z</dcterms:created>
  <dcterms:modified xsi:type="dcterms:W3CDTF">2026-09-25T03:25:06.6020000Z</dcterms:modified>
</coreProperties>
</file>