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26cbf25caa4111" /><Relationship Type="http://schemas.openxmlformats.org/officeDocument/2006/relationships/extended-properties" Target="/docProps/app.xml" Id="Rfe4de60a4e454d19" /><Relationship Type="http://schemas.openxmlformats.org/officeDocument/2006/relationships/officeDocument" Target="/ppt/presentation.xml" Id="Rd44d9a77f28b41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dd215b2d0342e9"/>
  </p:sldMasterIdLst>
  <p:notesMasterIdLst>
    <p:notesMasterId xmlns:r="http://schemas.openxmlformats.org/officeDocument/2006/relationships" r:id="R347ace88866f4105"/>
  </p:notesMasterIdLst>
  <p:sldIdLst>
    <p:sldId xmlns:r="http://schemas.openxmlformats.org/officeDocument/2006/relationships" id="256" r:id="R00eede41eaf64fe7"/>
    <p:sldId xmlns:r="http://schemas.openxmlformats.org/officeDocument/2006/relationships" id="257" r:id="Rd65ee66230c3467e"/>
    <p:sldId xmlns:r="http://schemas.openxmlformats.org/officeDocument/2006/relationships" id="258" r:id="R2b9cdc2162e64e0a"/>
    <p:sldId xmlns:r="http://schemas.openxmlformats.org/officeDocument/2006/relationships" id="259" r:id="Rc7d76972d7cb4194"/>
    <p:sldId xmlns:r="http://schemas.openxmlformats.org/officeDocument/2006/relationships" id="260" r:id="R884a7b1af2a543a5"/>
    <p:sldId xmlns:r="http://schemas.openxmlformats.org/officeDocument/2006/relationships" id="261" r:id="R6cf87d3e3b7549f2"/>
    <p:sldId xmlns:r="http://schemas.openxmlformats.org/officeDocument/2006/relationships" id="262" r:id="R4c6b764ce964407a"/>
    <p:sldId xmlns:r="http://schemas.openxmlformats.org/officeDocument/2006/relationships" id="263" r:id="R29eaca18b52244ce"/>
    <p:sldId xmlns:r="http://schemas.openxmlformats.org/officeDocument/2006/relationships" id="264" r:id="R756a6c542e6c4726"/>
    <p:sldId xmlns:r="http://schemas.openxmlformats.org/officeDocument/2006/relationships" id="265" r:id="Rb404235cccc644f7"/>
    <p:sldId xmlns:r="http://schemas.openxmlformats.org/officeDocument/2006/relationships" id="266" r:id="Rf2a4660135ad42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56029c1fca4904" /><Relationship Type="http://schemas.openxmlformats.org/officeDocument/2006/relationships/slideMaster" Target="/ppt/slideMasters/slideMaster1.xml" Id="Rd1dd215b2d0342e9" /><Relationship Type="http://schemas.openxmlformats.org/officeDocument/2006/relationships/notesMaster" Target="/ppt/notesMasters/notesMaster1.xml" Id="R347ace88866f4105" /><Relationship Type="http://schemas.openxmlformats.org/officeDocument/2006/relationships/presProps" Target="/ppt/presProps.xml" Id="R73d6c16c02c54e61" /><Relationship Type="http://schemas.openxmlformats.org/officeDocument/2006/relationships/tableStyles" Target="/ppt/tableStyles.xml" Id="Rd297c0cc83a447c7" /><Relationship Type="http://schemas.openxmlformats.org/officeDocument/2006/relationships/slide" Target="/ppt/slides/slide1.xml" Id="R00eede41eaf64fe7" /><Relationship Type="http://schemas.openxmlformats.org/officeDocument/2006/relationships/slide" Target="/ppt/slides/slide2.xml" Id="Rd65ee66230c3467e" /><Relationship Type="http://schemas.openxmlformats.org/officeDocument/2006/relationships/slide" Target="/ppt/slides/slide3.xml" Id="R2b9cdc2162e64e0a" /><Relationship Type="http://schemas.openxmlformats.org/officeDocument/2006/relationships/slide" Target="/ppt/slides/slide4.xml" Id="Rc7d76972d7cb4194" /><Relationship Type="http://schemas.openxmlformats.org/officeDocument/2006/relationships/slide" Target="/ppt/slides/slide5.xml" Id="R884a7b1af2a543a5" /><Relationship Type="http://schemas.openxmlformats.org/officeDocument/2006/relationships/slide" Target="/ppt/slides/slide6.xml" Id="R6cf87d3e3b7549f2" /><Relationship Type="http://schemas.openxmlformats.org/officeDocument/2006/relationships/slide" Target="/ppt/slides/slide7.xml" Id="R4c6b764ce964407a" /><Relationship Type="http://schemas.openxmlformats.org/officeDocument/2006/relationships/slide" Target="/ppt/slides/slide8.xml" Id="R29eaca18b52244ce" /><Relationship Type="http://schemas.openxmlformats.org/officeDocument/2006/relationships/slide" Target="/ppt/slides/slide9.xml" Id="R756a6c542e6c4726" /><Relationship Type="http://schemas.openxmlformats.org/officeDocument/2006/relationships/slide" Target="/ppt/slides/slide10.xml" Id="Rb404235cccc644f7" /><Relationship Type="http://schemas.openxmlformats.org/officeDocument/2006/relationships/slide" Target="/ppt/slides/slide11.xml" Id="Rf2a4660135ad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70c38cdfe8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c02ae4f84a45b4" /><Relationship Type="http://schemas.openxmlformats.org/officeDocument/2006/relationships/notesMaster" Target="/ppt/notesMasters/notesMaster1.xml" Id="R134f27dc7ab842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51f40658da4eca" /><Relationship Type="http://schemas.openxmlformats.org/officeDocument/2006/relationships/notesMaster" Target="/ppt/notesMasters/notesMaster1.xml" Id="R7cc8506f609b40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6bbc7c394d4baa" /><Relationship Type="http://schemas.openxmlformats.org/officeDocument/2006/relationships/notesMaster" Target="/ppt/notesMasters/notesMaster1.xml" Id="Reae5f9b3fe3e42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9cd833cca24649" /><Relationship Type="http://schemas.openxmlformats.org/officeDocument/2006/relationships/notesMaster" Target="/ppt/notesMasters/notesMaster1.xml" Id="R7f8fadee5ea248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4ac42375b74db6" /><Relationship Type="http://schemas.openxmlformats.org/officeDocument/2006/relationships/notesMaster" Target="/ppt/notesMasters/notesMaster1.xml" Id="R70c23b20951c45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132af59d374de3" /><Relationship Type="http://schemas.openxmlformats.org/officeDocument/2006/relationships/notesMaster" Target="/ppt/notesMasters/notesMaster1.xml" Id="Rc7028bf25a0e43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0c0e59b1fa4333" /><Relationship Type="http://schemas.openxmlformats.org/officeDocument/2006/relationships/notesMaster" Target="/ppt/notesMasters/notesMaster1.xml" Id="R2cd14d3ab5d34c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807f4ea44d469e" /><Relationship Type="http://schemas.openxmlformats.org/officeDocument/2006/relationships/notesMaster" Target="/ppt/notesMasters/notesMaster1.xml" Id="R808150b30a8b48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2451d91e59484c" /><Relationship Type="http://schemas.openxmlformats.org/officeDocument/2006/relationships/notesMaster" Target="/ppt/notesMasters/notesMaster1.xml" Id="Radfd565a9c2940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0c7b0f3b914ae5" /><Relationship Type="http://schemas.openxmlformats.org/officeDocument/2006/relationships/notesMaster" Target="/ppt/notesMasters/notesMaster1.xml" Id="Rfcc17629a44847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aa9bc4148549fc" /><Relationship Type="http://schemas.openxmlformats.org/officeDocument/2006/relationships/notesMaster" Target="/ppt/notesMasters/notesMaster1.xml" Id="R9eaf15f7b76746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student outcome: a funding plan they can understand and act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decision overload, not just scholarship 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previews the entire product flow before the feature deep dive.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shown values only as a demo scenario, not market data. Explain that confidence is a decision aid, not an award promise.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novelty explicit: confidence, reuse, and evidence quality fit together as one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trust slide. State clearly that the system does not autonomously submit applications.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doubles as your demo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technical slide brief. Focus on the working product, not framework vocabulary.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careful language. Do not claim performance metrics that the prototype has not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roadmap by connecting it back to the student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product promise, then invite judges to the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725787b7d4b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905e68b74e4572" /><Relationship Type="http://schemas.openxmlformats.org/officeDocument/2006/relationships/slideLayout" Target="/ppt/slideLayouts/slideLayout1.xml" Id="R0e2acb876ede4b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2acb876ede4b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448e965e246a5" /><Relationship Type="http://schemas.openxmlformats.org/officeDocument/2006/relationships/notesSlide" Target="/ppt/notesSlides/notesSlide1.xml" Id="R00dfab95bcaf49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ac5d33c8445b9" /><Relationship Type="http://schemas.openxmlformats.org/officeDocument/2006/relationships/notesSlide" Target="/ppt/notesSlides/notesSlide2.xml" Id="R4260d5a3732048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93c3d75674703" /><Relationship Type="http://schemas.openxmlformats.org/officeDocument/2006/relationships/notesSlide" Target="/ppt/notesSlides/notesSlide3.xml" Id="Rf1d33afd037f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762d0783944dc" /><Relationship Type="http://schemas.openxmlformats.org/officeDocument/2006/relationships/notesSlide" Target="/ppt/notesSlides/notesSlide4.xml" Id="R949f85d6895e48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56df74a6949b5" /><Relationship Type="http://schemas.openxmlformats.org/officeDocument/2006/relationships/notesSlide" Target="/ppt/notesSlides/notesSlide5.xml" Id="Rebf7d6bf5dab4d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4b54d2e1d47d9" /><Relationship Type="http://schemas.openxmlformats.org/officeDocument/2006/relationships/notesSlide" Target="/ppt/notesSlides/notesSlide6.xml" Id="Re786acc14a7f43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4de7d8b2c4d40" /><Relationship Type="http://schemas.openxmlformats.org/officeDocument/2006/relationships/notesSlide" Target="/ppt/notesSlides/notesSlide7.xml" Id="R1908a65d56c349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f30a0298042c8" /><Relationship Type="http://schemas.openxmlformats.org/officeDocument/2006/relationships/notesSlide" Target="/ppt/notesSlides/notesSlide8.xml" Id="R0fb157525ec84b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eb8baf2304d34" /><Relationship Type="http://schemas.openxmlformats.org/officeDocument/2006/relationships/notesSlide" Target="/ppt/notesSlides/notesSlide9.xml" Id="R89f6a8c60a6a4a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eb841e2924a85" /><Relationship Type="http://schemas.openxmlformats.org/officeDocument/2006/relationships/notesSlide" Target="/ppt/notesSlides/notesSlide10.xml" Id="R4cd8d02f74b347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905f2c29843a3" /><Relationship Type="http://schemas.openxmlformats.org/officeDocument/2006/relationships/notesSlide" Target="/ppt/notesSlides/notesSlide11.xml" Id="Rd8121f9810f149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B48AB-6D67-4695-981E-1BFB0C07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558E0-A938-47C7-B6D1-72265EF0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8F6C0-820E-4455-8A41-E28D83E1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895350"/>
            <a:ext cx="3238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D6EF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D8F43-29E6-4C7E-A6C7-F80C34DA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14450"/>
            <a:ext cx="24003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8B7FD-5BE2-424E-8B71-7E1967F2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1524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BCE3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0FD73-765B-4D2D-9D9E-B097C355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EDUFUND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42D0E-2EA3-4171-9092-738673A4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clearer path</a:t>
            </a:r>
          </a:p>
          <a:p xmlns:a="http://schemas.openxmlformats.org/drawingml/2006/main">
            <a:pPr>
              <a:defRPr sz="37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to education funding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5312A-F386-4BB7-86A5-260EFB6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 student-first platform that matches verified opportunities, plans the funding gap, and keeps every application moving.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78A16-8CC5-45CE-875E-2352A40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504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D8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AFEFB-FA15-4C9F-B136-094FBA85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1314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HACKATHON PITCH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D102E-D098-41BA-95D4-2F32E32B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Multi-agent financial planning for 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EAB84-0B62-4D01-888D-54A4C5CA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Prepared for live product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E4390-EF04-463D-B386-14B4FFDB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Funding intelligence</a:t>
            </a:r>
          </a:p>
          <a:p xmlns:a="http://schemas.openxmlformats.org/drawingml/2006/main">
            <a:pPr>
              <a:defRPr sz="1500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that students can explain</a:t>
            </a:r>
          </a:p>
        </p:txBody>
      </p:sp>
    </p:spTree>
    <p:extLst>
      <p:ext uri="{BB962C8B-B14F-4D97-AF65-F5344CB8AC3E}">
        <p14:creationId xmlns:p14="http://schemas.microsoft.com/office/powerpoint/2010/main" val="1299663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6C81D-7961-4C98-BE70-9D80639C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6D805-A1DF-4E64-AEDA-8AD6AAD7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Funding decisions are scattered and time-sensitive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40389-2B5E-4DDD-99F9-5113FB1B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Students must connect costs, eligibility, documents, essays, and deadlines without a single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DCC8C-0EC1-41FD-92CB-34CEFA81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2F1DD-6987-4C5B-AE9C-C995BABE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7F38A-AF40-4911-86AC-544FE687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403A3-4FF5-4BDA-9FFE-DA8AA1DA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143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0198D-73D0-4ADC-82E1-02C52E32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AE2BB-187D-4F32-A144-F126BD2C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423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Opportunity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73490-74B2-43FC-9DD5-771E21B1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Programmes live across separate portals and websites.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AB60F-02E7-4B06-9C61-2922A98C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143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B7672-8298-4F15-9B09-57E5F552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0DF7F-9166-4BB3-A27C-4A59C40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423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Eligibility 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E9400-E8C8-4671-96A2-CDA64A75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 promising listing can still fail on course, grade, income, or document rules.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51937-FBFB-4CCF-812F-C0A0621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B99CD-E9EF-4E51-A01A-3B9A700B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C17A5-9560-49D3-BE9A-C7ED610D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423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Application friction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AB8BA-653C-4D51-AD3E-8629258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Students repeat evidence and lose time as deadlines cluster.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1D0E6-7818-409A-92D3-2475583D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5143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DC061-24DC-4C3B-BEE1-883050DD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70E5F-CD04-401A-90AC-8206B027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423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No financial picture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1897A-5DAA-4019-A173-B8B7EF2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00600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Directories rarely show the actual gap after confirmed aid.</a:t>
            </a:r>
          </a:p>
        </p:txBody>
      </p:sp>
    </p:spTree>
    <p:extLst>
      <p:ext uri="{BB962C8B-B14F-4D97-AF65-F5344CB8AC3E}">
        <p14:creationId xmlns:p14="http://schemas.microsoft.com/office/powerpoint/2010/main" val="1879213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7B9B4-923F-4E9E-8817-AEB07166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C6C3B-E942-4D9A-B0D0-A1800020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One student profile powers the whole funding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BB44E-14D4-45F9-861B-0079F3A4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turns profile data into a ranked portfolio and a managed application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FE157-AFC1-4EC1-875F-4D4807AF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F5D9C-6D3C-4A52-84D6-8EE3807A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9D0F1-0F55-4F1B-88FF-E5DF8D1C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7B273-7E43-4C0B-9E23-2C847CB3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18478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0387E-F3BB-43FB-8CD9-053F9DA4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74E6F-E8AB-4484-B9AA-C71A5EF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E28D1-B7BD-47BE-B6F4-AADD7834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Academic, financial, and goal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28514-4CEB-44C8-BC26-FA49357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81375"/>
            <a:ext cx="2952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A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83ECB-840E-4532-816E-C71B6632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05075"/>
            <a:ext cx="18478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5E638-8D3F-4290-BBE4-6B32670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118B9-E7BC-4EA8-8CBB-6F51AB56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65AEF-EF4A-4275-A4B2-E948CB7C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Curated opportunities matched to the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1CEAD-2F35-4330-A619-7A2F7839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2952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A5A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AE847-7FB8-4A4A-A028-8D674036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05075"/>
            <a:ext cx="18478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9525">
            <a:solidFill>
              <a:srgbClr val="16A5A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E2745-CA4E-4FDA-9E2F-171FC08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7C4FB-9030-4C87-9078-B80512B3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14AD1-7C3E-4344-89B0-E1573FC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5757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Expected-value ranking and funding confidence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C6C67-A7C2-4022-8EC2-0ACA4BDA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2952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A5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10CF5-C5F8-4EB9-8CA3-C3419FBB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05075"/>
            <a:ext cx="18478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0F779-E744-42F9-8251-C8695CD9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D1C93-3841-47E6-A066-2B9F2C24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67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E56A7-B744-4616-9B2B-4987928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5757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Documents, essay evidence, and human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8EFD9-A213-4E6A-B2B4-27B19EC1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2952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A5A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E3268-D5E1-45A8-B438-9283290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05075"/>
            <a:ext cx="18478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E32E88-291B-4270-9BAF-1DFDB7CA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0A33A0-BC01-44DC-B40A-196F8B6D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670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595D78-95F0-47D2-AEBB-30FC5A1E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57575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Pipeline stages, deadlines, and reuse opportunities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AEB5F-BB62-4E87-9A02-DA46217B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Human authorisation stays in control before any portal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668307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54DA6-D488-4A80-9A05-34F6F4A6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FUNDING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A0C45-E498-4AC0-872D-8A7717F1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financial plan starts with the gap, not a list of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1169B-BF28-4B5F-A67A-A573059F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The planner separates confirmed aid from estimated outcomes so students can judge risk clearly.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7CF66-E0B4-46DB-B474-A8316D49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837E7-FD89-4237-AC58-6FF13ACA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4E73E-8889-443B-914E-C15B05AA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5B7B5-4F7E-47AB-B8EA-67D3E83B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515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CD9E2-BE5F-4900-8E1F-F3F8DC4E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F1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F1EE"/>
                </a:solidFill>
                <a:latin typeface="Aptos"/>
                <a:ea typeface="Aptos"/>
                <a:cs typeface="Aptos"/>
              </a:rPr>
              <a:t>Annual education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79C38-361B-4FF8-840A-A5250102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9850"/>
            <a:ext cx="2190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F1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F1EE"/>
                </a:solidFill>
                <a:latin typeface="Aptos"/>
                <a:ea typeface="Aptos"/>
                <a:cs typeface="Aptos"/>
              </a:rPr>
              <a:t>− Confirmed aid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033A8-069D-452A-B7C5-2428F73E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98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F1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F1EE"/>
                </a:solidFill>
                <a:latin typeface="Aptos"/>
                <a:ea typeface="Aptos"/>
                <a:cs typeface="Aptos"/>
              </a:rPr>
              <a:t>= Remaining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B3CC5-E7D5-4449-9100-6EAD3690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₹ 2,00,000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14045-6371-4CA9-9121-0F6AE0A2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₹ 30,000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17748-3D88-4A65-BB0F-08D0656E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E0A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E0A5"/>
                </a:solidFill>
                <a:latin typeface="Aptos"/>
                <a:ea typeface="Aptos"/>
                <a:cs typeface="Aptos"/>
              </a:rPr>
              <a:t>₹ 1,70,000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E8971-0CEF-4CC4-8FBF-B380B324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029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AC166-4835-4F66-A546-4E3D38C7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Expected value portfolio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A4523-1859-4C87-AD41-819CDC83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Ranks opportunities by amount, profile match, and deadline urgency.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44B72-3D29-4C39-BCB9-E637860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9550"/>
            <a:ext cx="5638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46378-F540-4AEB-96C9-83002051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Funding Confidence Meter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E4A10-683F-45A9-A797-F582C27B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1487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Guaranteed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DFF07-0874-4F7C-AD05-0099CE8F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Probable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F7361-B236-4F06-B433-AA4BEEB3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966B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966B4"/>
                </a:solidFill>
                <a:latin typeface="Aptos"/>
                <a:ea typeface="Aptos"/>
                <a:cs typeface="Aptos"/>
              </a:rPr>
              <a:t>Possible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E8072-2645-4E12-8A2A-A17152CB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1487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8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812B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BA644-F8CC-4F06-A2BC-6BEC9459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29200"/>
            <a:ext cx="128587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5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03188-777C-4470-A9FB-FEC43A25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29200"/>
            <a:ext cx="13144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D8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A4B10-E07B-4765-B38F-CBB0EC40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29200"/>
            <a:ext cx="10001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66B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AAA07-A3A6-42CD-BFEC-043F91E3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029200"/>
            <a:ext cx="1190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12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78045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1F5E9-12D3-4B3D-9174-769307DC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WHAT MAKES EDUFUND DIFFERENT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3F786-DE29-4088-A764-2E29867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Three decision tools turn an application list into a practical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3B7EF-05CA-4FBC-9F6E-6F354771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These features focus on uncertainty, effort, and integrity.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49691-EA4D-4B03-8995-A118D56C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83408-8A5C-4087-9DE9-C007ADEA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5C6AF-CB52-4225-9863-FF310EE2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00995-D695-454C-80DD-DA1AA72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3352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FB7EE-C263-4F40-B727-63DB43D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D8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78467-E0CB-488E-BE84-4C22D9DE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17B77-F1C5-42F8-A2B4-8E8C16F1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Funding Confidence Meter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2573D-BBA2-4A90-BDCA-1A62C132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Shows confirmed, likely, possible, and uncovered funding in one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42176-32E0-480F-91AB-68367B9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28875"/>
            <a:ext cx="3352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11744-4E32-48EA-9867-0E14C2AA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57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66B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DC416-D314-4939-B7C8-8A89BE3A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71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66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966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77A6E-A2AF-4B82-BD1A-56E4EC14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81375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Document Reuse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041E3-548B-45DE-B3A9-8E052E03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048125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Finds evidence that can support more than one active application.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8DEE6-096E-4CD2-939A-FB8540D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28875"/>
            <a:ext cx="3352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53565-9255-429A-9D97-83FBD527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57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1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B65C4-15CE-4084-B216-95F4E5EF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71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81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539EC-06D3-4809-878A-5ABF8F02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81375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Essay Evidence Checker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3E1EC-BB1B-4E11-88CA-5207154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48125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Flags strong statements that do not appear in the student profile.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8EFEB-A2AC-41F2-A83B-71020ED0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Each feature gives the student a specific next action before the deadline closes.</a:t>
            </a:r>
          </a:p>
        </p:txBody>
      </p:sp>
    </p:spTree>
    <p:extLst>
      <p:ext uri="{BB962C8B-B14F-4D97-AF65-F5344CB8AC3E}">
        <p14:creationId xmlns:p14="http://schemas.microsoft.com/office/powerpoint/2010/main" val="2093280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C9BD5-F4A6-46E9-B43E-662A6D02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APPLICATION AUTOPILOT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ABEAF-632F-4C3E-A7EA-C272017E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AI accelerates preparation while the student retains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4A4F1-3C83-49FE-9177-0F267DA5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prepares the work, highlights gaps, and requires review before an application packet is marked ready.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45C59-C37F-448C-BC21-4983A3D7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DFF62-5677-41AE-AE95-5B82710D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F1716-E348-4E57-BB74-D2266F2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4B875-5C0F-4B74-9E22-DCE5F187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B123D-B64A-48DB-BB3E-86F622E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FF85B-321B-412A-8432-2D913665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098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E0456-6732-440E-8CD0-98F83070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Read required documents and prompts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2E1C5-C67F-4B0E-9DE6-39197CF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86050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A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551D8-31B3-4B6B-8492-5400114A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9ABF1-7971-41A5-8A3C-7FED0F8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633A4-F9C4-4A64-A751-297C035A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194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Draft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42FC2-E496-4DF1-A0FF-DC966A09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861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Generate and refine a response from the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E2F5B-AF56-4CEE-89E3-40DF4EC6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495675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A5A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D68C4-F439-42A9-9847-79DB92F9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89940-2AC4-40D9-8D84-A6E842FA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ECAF6-5CF3-48E0-BC25-4F9B2A46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290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Evidence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26411-163A-4130-9994-0F63F391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957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Compare key claims against stored achievements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46AFB-7949-4BDD-A1CB-72B40043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305300"/>
            <a:ext cx="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A5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3A920-6D2A-4C97-B52A-93130399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7B5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69323-D43E-4A74-A478-C8F3CBBB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40E26-16CB-4D13-8A78-17D4ABEB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386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Student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FCAA8-6A08-462D-AD85-2EF8A662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05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Edit, approve, and submit through the official portal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DF31F-FA10-4130-BCAD-5993DB5A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143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9525">
            <a:solidFill>
              <a:srgbClr val="B6DEC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89CAF-9812-4765-8E7F-D2A16740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Safety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8D4E4-51D5-40D1-B47C-638B112C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383A"/>
                </a:solidFill>
                <a:latin typeface="Aptos"/>
                <a:ea typeface="Aptos"/>
                <a:cs typeface="Aptos"/>
              </a:rPr>
              <a:t>EduFund never sends financial forms or essays to an external provider without explicit student review and authorisation.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AD3550-3236-4091-A8E5-8A6DD0B6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Official provider portal</a:t>
            </a:r>
          </a:p>
          <a:p xmlns:a="http://schemas.openxmlformats.org/drawingml/2006/main">
            <a:pPr>
              <a:defRPr sz="1050" b="1">
                <a:solidFill>
                  <a:srgbClr val="247B5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7B58"/>
                </a:solidFill>
                <a:latin typeface="Aptos"/>
                <a:ea typeface="Aptos"/>
                <a:cs typeface="Aptos"/>
              </a:rPr>
              <a:t>remains the final submission step</a:t>
            </a:r>
          </a:p>
        </p:txBody>
      </p:sp>
    </p:spTree>
    <p:extLst>
      <p:ext uri="{BB962C8B-B14F-4D97-AF65-F5344CB8AC3E}">
        <p14:creationId xmlns:p14="http://schemas.microsoft.com/office/powerpoint/2010/main" val="747956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C8145-9034-43B4-BE79-5C751C36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LIVE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439C5-7389-4122-B986-25F1CD18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two-minute journey from account creation to a ready application packet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AB7D6-B0BB-410D-80E0-4CAAF727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Use this sequence during the live demo so judges see the financial outcome before the interface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8F73A-05CD-47DF-974A-C44A84AF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75CB2-13D5-4802-9A14-346D10BC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4EA73-90EE-4535-A1AE-CFCABB5F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3546A-B248-44D7-B6F3-944CDF4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D3F5D-5768-400D-A667-620CB3FC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28900"/>
            <a:ext cx="15144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DE4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15A2B-8D99-466D-AA1B-830CF811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857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B936F-7DF0-463F-9FAA-73EE2A24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2531E-0D28-4B6E-9151-9C902986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Create a student account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75A71-5A84-4797-9CE1-15ACCF8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05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22089-9572-4A2B-9BEB-2AC488A5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28900"/>
            <a:ext cx="15144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DE4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8B725-6BEB-457B-8737-7C9706DB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71800"/>
            <a:ext cx="1857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0F452-3978-4B57-9831-0DF62953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74714-D59A-4845-B602-1FE2665E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385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Enter course, GPA, income range, annual cost, and aid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398A4-B619-462A-B8EF-6BE4FA39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05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D9FFC-C339-43E4-95B8-41FA921D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28900"/>
            <a:ext cx="15144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DE4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3975E-874E-481F-8673-7A808E15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71800"/>
            <a:ext cx="1857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F6383-1F03-40D4-A829-BE871EEB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38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Planner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7CF3B-513E-4154-BE56-E5DFE03E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Open the ranked portfolio and confidence meter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59F6E-52F5-4B2E-8BC8-2183E9FA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05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C14B8-6088-4E7A-9386-A2E37FEC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28900"/>
            <a:ext cx="15144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DE4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9CE31-5468-412C-ADCE-5ED7053B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71800"/>
            <a:ext cx="1857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EB884-56E2-48DE-8C41-9774BAB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38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Autopilot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B16D8-8347-4175-AFED-30C5AAD9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Choose one match, audit documents, check essay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FD8802-BDE1-4D55-88C5-5BE969FC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050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392AA-EE58-416D-AA2E-783BFF28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28900"/>
            <a:ext cx="15144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DE4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E6D46F-503C-40DD-B1DF-0D6D61E6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1857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6299BA-8ABD-4EDC-9E84-A0EFA447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B1CF37-7203-4338-B609-BDCBF2D0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47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Move the application forward and inspect deadline conflicts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DE5213-09F5-493A-8A4F-16D93ED0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Demo tip: use a realistic fictional student profile and show the official programme link before discussing an application.</a:t>
            </a:r>
          </a:p>
        </p:txBody>
      </p:sp>
    </p:spTree>
    <p:extLst>
      <p:ext uri="{BB962C8B-B14F-4D97-AF65-F5344CB8AC3E}">
        <p14:creationId xmlns:p14="http://schemas.microsoft.com/office/powerpoint/2010/main" val="10262947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2C064-F9C5-40A6-9192-BAB749B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BUILD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769D2-073B-4E31-B7EC-BC74A538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modular web application with separate reasoning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BA0D8-513E-4996-A0D1-978F8E8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The implementation keeps profile data, planning logic, and application actions connected through a REST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DF44A-94CC-49E9-A230-0E7446E0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71981-1E19-46E4-9FF9-1525D6AC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F1DA7-869D-455F-AE14-FAC42476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44979-AE90-43AA-A594-84E76ED1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457450" cy="2619375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74508-A6ED-48F7-A889-E0532B23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8823F-2BB8-4352-88AA-8C08608A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17716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C8650-7D28-443C-8667-754DB757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952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Student dashboard</a:t>
            </a:r>
          </a:p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Responsive light interface</a:t>
            </a:r>
          </a:p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Lucide icon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F8597-E345-43FA-A095-9EB498C0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2457450" cy="2619375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241F9-9D35-4ACA-AB47-CCEBA95D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4CF25-5E5F-49A9-B4DB-8A984F3C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90875"/>
            <a:ext cx="17716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7C48C-BF9A-4A88-93D6-F0FFEB83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48050"/>
            <a:ext cx="1952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Profile, opportunity, planner, autopilot, and pipeline endpoints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97D57-31DE-4C46-9C82-74F36C09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2457450" cy="2619375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40E9E-16BC-444A-B236-A66C9E0B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Agent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1FEAD-CD2E-4D83-AA0D-78F5F5D1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90875"/>
            <a:ext cx="17716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077E0-D593-4FCB-95B9-9B38FDFA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1952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Discovery</a:t>
            </a:r>
          </a:p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Eligibility</a:t>
            </a:r>
          </a:p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Funding planner</a:t>
            </a:r>
          </a:p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Autopilot</a:t>
            </a:r>
          </a:p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Deadline monitor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0AAD9-2859-4943-AED7-B64DF20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457450" cy="2619375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C33A3-11AD-48CF-A2FA-38857092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3C84A-B945-474A-B6AC-B5A1ABD9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90875"/>
            <a:ext cx="17716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61CAF-862D-4A9B-ADE9-F2F8089C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1952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User accounts</a:t>
            </a:r>
          </a:p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Profiles</a:t>
            </a:r>
          </a:p>
          <a:p xmlns:a="http://schemas.openxmlformats.org/drawingml/2006/main">
            <a:pPr>
              <a:defRPr sz="1125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Application stages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EFE25-A0AD-4F50-AAF6-E79B4E2A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Deployed frontend and backend can run independently through an environment-configured API URL.</a:t>
            </a:r>
          </a:p>
        </p:txBody>
      </p:sp>
    </p:spTree>
    <p:extLst>
      <p:ext uri="{BB962C8B-B14F-4D97-AF65-F5344CB8AC3E}">
        <p14:creationId xmlns:p14="http://schemas.microsoft.com/office/powerpoint/2010/main" val="87423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57826-5394-43A6-B331-ED1871E2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VALUE FOR STUDENTS AND INSTITUTIONS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87F76-9508-401C-AE62-93ADCDCC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EduFund makes funding decisions easier to explain, organise, and act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B484C-9852-421B-8074-76C8D9B1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The current prototype focuses on a transparent workflow with official-source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E405D-91AD-465D-A618-93CA029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BBBB0-D1C3-4890-B423-DEC82365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8471A-64E9-4906-8F3B-F2D586D4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01134-A897-43D7-903B-2559ACAC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8891F-4CE6-4109-8B19-A3492A1E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E3993-9224-4563-AAA2-393983E8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241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383A"/>
                </a:solidFill>
                <a:latin typeface="Aptos"/>
                <a:ea typeface="Aptos"/>
                <a:cs typeface="Aptos"/>
              </a:rPr>
              <a:t>See the funding gap, ranked matches, and next deadline in one place.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10C8C-D9CA-47A4-89CF-0AA3D1A9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F158C-4CDD-4F10-9F9E-0236D2A2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Advisors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97158-0DC6-4E07-982F-C559481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385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383A"/>
                </a:solidFill>
                <a:latin typeface="Aptos"/>
                <a:ea typeface="Aptos"/>
                <a:cs typeface="Aptos"/>
              </a:rPr>
              <a:t>Review a student's plan and application readiness without rebuilding the picture.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AADBC-9E33-434A-AE9E-046EA35B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B5175-92BB-4185-A64C-1C8B2A73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Institutions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48586-B969-4540-BBC5-381719D2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529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383A"/>
                </a:solidFill>
                <a:latin typeface="Aptos"/>
                <a:ea typeface="Aptos"/>
                <a:cs typeface="Aptos"/>
              </a:rPr>
              <a:t>Direct students to official sources while reducing repeated administrative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C232B-69EC-4D13-B0A6-BD4F1190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D515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45376-A7F8-48E7-8A21-FF1218C0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Responsible design: eligibility and award decisions remain with the funding provider.</a:t>
            </a:r>
          </a:p>
        </p:txBody>
      </p:sp>
    </p:spTree>
    <p:extLst>
      <p:ext uri="{BB962C8B-B14F-4D97-AF65-F5344CB8AC3E}">
        <p14:creationId xmlns:p14="http://schemas.microsoft.com/office/powerpoint/2010/main" val="1735242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2E3EE-3F56-4107-90F5-781F209F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7D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7D80"/>
                </a:solidFill>
                <a:latin typeface="Aptos"/>
                <a:ea typeface="Aptos"/>
                <a:cs typeface="Aptos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26AF4-A1D0-4EA5-A71D-AEF7BBC9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A practical path from hackathon prototype to trusted student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1BDF3-FFCF-440C-A898-07E7BE7F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375"/>
                </a:solidFill>
                <a:latin typeface="Aptos"/>
                <a:ea typeface="Aptos"/>
                <a:cs typeface="Aptos"/>
              </a:rPr>
              <a:t>Future work prioritises source freshness, institutional collaboration, and measurable student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870BB-D081-4681-AF0C-8523154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0203C-4D7B-4707-B6DA-8F7A3D96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EDUFUND  /  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59362-9127-49AB-9F4F-BA234C9A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389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873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73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E78E6-AECE-4349-9504-C7B0FB8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52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B7D44-7D9E-4DA9-9419-7186569E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7D8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5AFF1-4EAB-48F4-B2A0-ABA104B4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666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76B9C-D01D-41F8-99BA-329B346C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809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Profile-driven discovery, funding plan, safe application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E473D-F88B-4B4D-865A-6207A155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71750"/>
            <a:ext cx="3352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BC5F0-649A-474D-B128-8515F24E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03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966B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16434-87A3-4913-B75B-65191CCA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67025"/>
            <a:ext cx="666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AA14C-3860-49CF-B01D-7DD1B904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33750"/>
            <a:ext cx="2809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Scheduled source checks, document expiry reminders, institution dashboards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0ECEC-569B-4851-A7F3-236736C3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3352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E4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8ABAD-4E73-4421-B92D-2BD9DDA7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B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CDEF3-B85A-4308-95F7-D3326BB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67025"/>
            <a:ext cx="666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8EEC9-DACF-45A7-BE7F-F341BF98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809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38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83A"/>
                </a:solidFill>
                <a:latin typeface="Aptos"/>
                <a:ea typeface="Aptos"/>
                <a:cs typeface="Aptos"/>
              </a:rPr>
              <a:t>Consent-based integrations with university aid offices and outcome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EFC79-A856-4E8B-918B-E9C83A18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51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5154"/>
                </a:solidFill>
                <a:latin typeface="Aptos"/>
                <a:ea typeface="Aptos"/>
                <a:cs typeface="Aptos"/>
              </a:rPr>
              <a:t>The principle stays constant: help students make an informed decision before they invest application effort.</a:t>
            </a:r>
          </a:p>
        </p:txBody>
      </p:sp>
    </p:spTree>
    <p:extLst>
      <p:ext uri="{BB962C8B-B14F-4D97-AF65-F5344CB8AC3E}">
        <p14:creationId xmlns:p14="http://schemas.microsoft.com/office/powerpoint/2010/main" val="34997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51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1EE9F-B497-4415-A15B-9A8ECA4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15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AB8E6-8DC7-428C-A38B-EA4D4B9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83820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66F7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6F5B4-87EF-496C-8E66-59FC9770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144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E85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68225-8458-4872-8FC0-C74B0517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8DF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8DFDA"/>
                </a:solidFill>
                <a:latin typeface="Aptos"/>
                <a:ea typeface="Aptos"/>
                <a:cs typeface="Aptos"/>
              </a:rPr>
              <a:t>EDUFUND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E7F56-89DA-4E62-8020-55B49F81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Funding plans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that move students forward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8472B-2B52-47B3-A357-D69A3BA2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F1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F1EF"/>
                </a:solidFill>
                <a:latin typeface="Aptos"/>
                <a:ea typeface="Aptos"/>
                <a:cs typeface="Aptos"/>
              </a:rPr>
              <a:t>Discover the right opportunities. Understand the funding gap. Prepare every application with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F5742-B50C-456A-A6D6-0520D781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A5A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1140C-DCFE-4BBF-8980-8638A5B7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876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E9029-E005-406C-8785-D89BB8D3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DFD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DFDA"/>
                </a:solidFill>
                <a:latin typeface="Aptos"/>
                <a:ea typeface="Aptos"/>
                <a:cs typeface="Aptos"/>
              </a:rPr>
              <a:t>Live product demonstration 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D98EA-EC5F-4CA8-8AD0-DE4E5EAF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8DFD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DFDA"/>
                </a:solidFill>
                <a:latin typeface="Aptos"/>
                <a:ea typeface="Aptos"/>
                <a:cs typeface="Aptos"/>
              </a:rPr>
              <a:t>EduFund keeps the student in control.</a:t>
            </a:r>
          </a:p>
        </p:txBody>
      </p:sp>
    </p:spTree>
    <p:extLst>
      <p:ext uri="{BB962C8B-B14F-4D97-AF65-F5344CB8AC3E}">
        <p14:creationId xmlns:p14="http://schemas.microsoft.com/office/powerpoint/2010/main" val="982136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2026-09-25T03:16:33.2120000Z</dcterms:created>
  <dcterms:modified xsi:type="dcterms:W3CDTF">2026-09-25T03:16:33.2120000Z</dcterms:modified>
</coreProperties>
</file>