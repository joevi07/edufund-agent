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student outcome: a funding plan they can understand and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problem as decision overload, not just scholarship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previews the entire product flow before the feature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shown values only as a demo scenario, not market data. Explain that confidence is a decision aid, not an award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the novelty explicit: confidence, reuse, and evidence quality fit together as one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trust slide. State clearly that the system does not autonomously submit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doubles as your demo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technical slide brief. Focus on the working product, not framework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careful language. Do not claim performance metrics that the prototype has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roadmap by connecting it back to the student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product promise, then invite judges to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AB48AB-6D67-4695-981E-1BFB0C070E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9558E0-A938-47C7-B6D1-72265EF00534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EAF6F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08F6C0-820E-4455-8A41-E28D83E1EDE4}"/>
              </a:ext>
            </a:extLst>
          </p:cNvPr>
          <p:cNvSpPr>
            <a:spLocks noGrp="1"/>
          </p:cNvSpPr>
          <p:nvPr/>
        </p:nvSpPr>
        <p:spPr>
          <a:xfrm>
            <a:off x="8134350" y="895350"/>
            <a:ext cx="3238500" cy="3238500"/>
          </a:xfrm>
          <a:prstGeom prst="roundRect">
            <a:avLst>
              <a:gd name="adj" fmla="val 2353"/>
            </a:avLst>
          </a:prstGeom>
          <a:solidFill>
            <a:srgbClr val="D6EFE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DD8F43-29E6-4C7E-A6C7-F80C34DAED3D}"/>
              </a:ext>
            </a:extLst>
          </p:cNvPr>
          <p:cNvSpPr>
            <a:spLocks noGrp="1"/>
          </p:cNvSpPr>
          <p:nvPr/>
        </p:nvSpPr>
        <p:spPr>
          <a:xfrm>
            <a:off x="8553450" y="1314450"/>
            <a:ext cx="2400300" cy="24003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F8B7FD-5BE2-424E-8B71-7E1967F287AD}"/>
              </a:ext>
            </a:extLst>
          </p:cNvPr>
          <p:cNvSpPr>
            <a:spLocks noGrp="1"/>
          </p:cNvSpPr>
          <p:nvPr/>
        </p:nvSpPr>
        <p:spPr>
          <a:xfrm>
            <a:off x="8991600" y="1752600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BCE3D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30FD73-765B-4D2D-9D9E-B097C35536E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EDUFUND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E42D0E-2EA3-4171-9092-738673A44AF4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619125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7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clearer path</a:t>
            </a:r>
          </a:p>
          <a:p>
            <a:pPr>
              <a:defRPr sz="37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to education funding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95312A-F386-4BB7-86A5-260EFB67B234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5810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 student-first platform that matches verified opportunities, plans the funding gap, and keeps every application moving.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E78A16-8CC5-45CE-875E-2352A40B83F3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504950" cy="266700"/>
          </a:xfrm>
          <a:prstGeom prst="roundRect">
            <a:avLst>
              <a:gd name="adj" fmla="val 28571"/>
            </a:avLst>
          </a:prstGeom>
          <a:solidFill>
            <a:srgbClr val="117D8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5AFEFB-FA15-4C9F-B136-094FBA85813E}"/>
              </a:ext>
            </a:extLst>
          </p:cNvPr>
          <p:cNvSpPr>
            <a:spLocks noGrp="1"/>
          </p:cNvSpPr>
          <p:nvPr/>
        </p:nvSpPr>
        <p:spPr>
          <a:xfrm>
            <a:off x="781050" y="4371975"/>
            <a:ext cx="1314450" cy="1238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HACKATHON PITCH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3D102E-D098-41BA-95D4-2F32E32B5CD2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Multi-agent financial planning for students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EAB84-0B62-4D01-888D-54A4C5CAB78E}"/>
              </a:ext>
            </a:extLst>
          </p:cNvPr>
          <p:cNvSpPr>
            <a:spLocks noGrp="1"/>
          </p:cNvSpPr>
          <p:nvPr/>
        </p:nvSpPr>
        <p:spPr>
          <a:xfrm>
            <a:off x="685800" y="60579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Prepared for live product demo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DE4390-EF04-463D-B386-14B4FFDB60AC}"/>
              </a:ext>
            </a:extLst>
          </p:cNvPr>
          <p:cNvSpPr>
            <a:spLocks noGrp="1"/>
          </p:cNvSpPr>
          <p:nvPr/>
        </p:nvSpPr>
        <p:spPr>
          <a:xfrm>
            <a:off x="8039100" y="4667250"/>
            <a:ext cx="27432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Funding intelligence</a:t>
            </a:r>
          </a:p>
          <a:p>
            <a:pPr>
              <a:defRPr sz="1500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that students can explain</a:t>
            </a:r>
          </a:p>
        </p:txBody>
      </p:sp>
    </p:spTree>
    <p:extLst>
      <p:ext uri="{BB962C8B-B14F-4D97-AF65-F5344CB8AC3E}">
        <p14:creationId xmlns:p14="http://schemas.microsoft.com/office/powerpoint/2010/main" val="129966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BC6C81D-7961-4C98-BE70-9D80639CF3E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C6D805-A1DF-4E64-AEDA-8AD6AAD799D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Funding decisions are scattered and time-sensitive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140389-2B5E-4DDD-99F9-5113FB1BEAB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Students must connect costs, eligibility, documents, essays, and deadlines without a single plan.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2DDCC8C-0EC1-41FD-92CB-34CEFA81FA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2F1DD-6987-4C5B-AE9C-C995BABE56B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A7F38A-AF40-4911-86AC-544FE6879E73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3403A3-4FF5-4BDA-9FFE-DA8AA1DAFD36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51435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90198D-73D0-4ADC-82E1-02C52E32D594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AE2BB-187D-4F32-A144-F126BD2CD631}"/>
              </a:ext>
            </a:extLst>
          </p:cNvPr>
          <p:cNvSpPr>
            <a:spLocks noGrp="1"/>
          </p:cNvSpPr>
          <p:nvPr/>
        </p:nvSpPr>
        <p:spPr>
          <a:xfrm>
            <a:off x="838200" y="2828925"/>
            <a:ext cx="423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Opportunity 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473490-74B2-43FC-9DD5-771E21B1AE4D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43338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Programmes live across separate portals and websites.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AAB60F-02E7-4B06-9C61-2922A98CD900}"/>
              </a:ext>
            </a:extLst>
          </p:cNvPr>
          <p:cNvSpPr>
            <a:spLocks noGrp="1"/>
          </p:cNvSpPr>
          <p:nvPr/>
        </p:nvSpPr>
        <p:spPr>
          <a:xfrm>
            <a:off x="6153150" y="2305050"/>
            <a:ext cx="51435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AB7672-8298-4F15-9B09-57E5F55267C4}"/>
              </a:ext>
            </a:extLst>
          </p:cNvPr>
          <p:cNvSpPr>
            <a:spLocks noGrp="1"/>
          </p:cNvSpPr>
          <p:nvPr/>
        </p:nvSpPr>
        <p:spPr>
          <a:xfrm>
            <a:off x="6381750" y="25146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60DF7F-9166-4BB3-A27C-4A59C40325F9}"/>
              </a:ext>
            </a:extLst>
          </p:cNvPr>
          <p:cNvSpPr>
            <a:spLocks noGrp="1"/>
          </p:cNvSpPr>
          <p:nvPr/>
        </p:nvSpPr>
        <p:spPr>
          <a:xfrm>
            <a:off x="6381750" y="2828925"/>
            <a:ext cx="423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Eligibility uncertainty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2E9400-E8C8-4671-96A2-CDA64A758725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43338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 promising listing can still fail on course, grade, income, or document rules.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C51937-FBFB-4CCF-812F-C0A0621577E5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435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9B99CD-E9EF-4E51-A01A-3B9A700B33A0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3C17A5-9560-49D3-BE9A-C7ED610D94C8}"/>
              </a:ext>
            </a:extLst>
          </p:cNvPr>
          <p:cNvSpPr>
            <a:spLocks noGrp="1"/>
          </p:cNvSpPr>
          <p:nvPr/>
        </p:nvSpPr>
        <p:spPr>
          <a:xfrm>
            <a:off x="838200" y="4486275"/>
            <a:ext cx="423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Application friction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EAB8BA-653C-4D51-AD3E-8629258BBB27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43338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Students repeat evidence and lose time as deadlines cluster.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1D0E6-7818-409A-92D3-2475583D79DD}"/>
              </a:ext>
            </a:extLst>
          </p:cNvPr>
          <p:cNvSpPr>
            <a:spLocks noGrp="1"/>
          </p:cNvSpPr>
          <p:nvPr/>
        </p:nvSpPr>
        <p:spPr>
          <a:xfrm>
            <a:off x="6153150" y="3962400"/>
            <a:ext cx="51435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4DC061-24DC-4C3B-BEE1-883050DD0397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A70E5F-CD04-401A-90AC-8206B0273A0C}"/>
              </a:ext>
            </a:extLst>
          </p:cNvPr>
          <p:cNvSpPr>
            <a:spLocks noGrp="1"/>
          </p:cNvSpPr>
          <p:nvPr/>
        </p:nvSpPr>
        <p:spPr>
          <a:xfrm>
            <a:off x="6381750" y="4486275"/>
            <a:ext cx="423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No financial picture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41897A-5DAA-4019-A173-B8B7EF29A268}"/>
              </a:ext>
            </a:extLst>
          </p:cNvPr>
          <p:cNvSpPr>
            <a:spLocks noGrp="1"/>
          </p:cNvSpPr>
          <p:nvPr/>
        </p:nvSpPr>
        <p:spPr>
          <a:xfrm>
            <a:off x="6381750" y="4800600"/>
            <a:ext cx="43338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Directories rarely show the actual gap after confirmed aid.</a:t>
            </a:r>
          </a:p>
        </p:txBody>
      </p:sp>
    </p:spTree>
    <p:extLst>
      <p:ext uri="{BB962C8B-B14F-4D97-AF65-F5344CB8AC3E}">
        <p14:creationId xmlns:p14="http://schemas.microsoft.com/office/powerpoint/2010/main" val="1879213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047B9B4-923F-4E9E-8817-AEB07166B17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FC6C3B-E942-4D9A-B0D0-A18000209BA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One student profile powers the whole funding journey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BB44E-14D4-45F9-861B-0079F3A4A4E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turns profile data into a ranked portfolio and a managed application workflow.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20FE157-AFC1-4EC1-875F-4D4807AF5DA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9F5D9C-6D3C-4A52-84D6-8EE3807AE87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99D0F1-0F55-4F1B-88FF-E5DF8D1C6373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57B273-7E43-4C0B-9E23-2C847CB3A7EC}"/>
              </a:ext>
            </a:extLst>
          </p:cNvPr>
          <p:cNvSpPr>
            <a:spLocks noGrp="1"/>
          </p:cNvSpPr>
          <p:nvPr/>
        </p:nvSpPr>
        <p:spPr>
          <a:xfrm>
            <a:off x="628650" y="2505075"/>
            <a:ext cx="18478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60387E-F3BB-43FB-8CD9-053F9DA407CA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74E6F-E8AB-4484-B9AA-C71A5EFC77FA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DE28D1-B7BD-47BE-B6F4-AADD78342F4C}"/>
              </a:ext>
            </a:extLst>
          </p:cNvPr>
          <p:cNvSpPr>
            <a:spLocks noGrp="1"/>
          </p:cNvSpPr>
          <p:nvPr/>
        </p:nvSpPr>
        <p:spPr>
          <a:xfrm>
            <a:off x="800100" y="3457575"/>
            <a:ext cx="14859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Academic, financial, and goal inputs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5428514-4CEB-44C8-BC26-FA49357C910A}"/>
              </a:ext>
            </a:extLst>
          </p:cNvPr>
          <p:cNvSpPr>
            <a:spLocks noGrp="1"/>
          </p:cNvSpPr>
          <p:nvPr/>
        </p:nvSpPr>
        <p:spPr>
          <a:xfrm>
            <a:off x="2476500" y="3381375"/>
            <a:ext cx="295275" cy="0"/>
          </a:xfrm>
          <a:prstGeom prst="line">
            <a:avLst/>
          </a:prstGeom>
          <a:ln w="19050">
            <a:solidFill>
              <a:srgbClr val="16A5A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A83ECB-840E-4532-816E-C71B663219C3}"/>
              </a:ext>
            </a:extLst>
          </p:cNvPr>
          <p:cNvSpPr>
            <a:spLocks noGrp="1"/>
          </p:cNvSpPr>
          <p:nvPr/>
        </p:nvSpPr>
        <p:spPr>
          <a:xfrm>
            <a:off x="2819400" y="2505075"/>
            <a:ext cx="18478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B5E638-8D3F-4290-BBE4-6B32670AB3C6}"/>
              </a:ext>
            </a:extLst>
          </p:cNvPr>
          <p:cNvSpPr>
            <a:spLocks noGrp="1"/>
          </p:cNvSpPr>
          <p:nvPr/>
        </p:nvSpPr>
        <p:spPr>
          <a:xfrm>
            <a:off x="2990850" y="272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6118B9-E7BC-4EA8-8CBB-6F51AB563BA0}"/>
              </a:ext>
            </a:extLst>
          </p:cNvPr>
          <p:cNvSpPr>
            <a:spLocks noGrp="1"/>
          </p:cNvSpPr>
          <p:nvPr/>
        </p:nvSpPr>
        <p:spPr>
          <a:xfrm>
            <a:off x="2990850" y="3067050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C65AEF-EF4A-4275-A4B2-E948CB7C88F7}"/>
              </a:ext>
            </a:extLst>
          </p:cNvPr>
          <p:cNvSpPr>
            <a:spLocks noGrp="1"/>
          </p:cNvSpPr>
          <p:nvPr/>
        </p:nvSpPr>
        <p:spPr>
          <a:xfrm>
            <a:off x="2990850" y="3457575"/>
            <a:ext cx="14859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Curated opportunities matched to the profile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1F1CEAD-2F35-4330-A619-7A2F7839A862}"/>
              </a:ext>
            </a:extLst>
          </p:cNvPr>
          <p:cNvSpPr>
            <a:spLocks noGrp="1"/>
          </p:cNvSpPr>
          <p:nvPr/>
        </p:nvSpPr>
        <p:spPr>
          <a:xfrm>
            <a:off x="4667250" y="3381375"/>
            <a:ext cx="295275" cy="0"/>
          </a:xfrm>
          <a:prstGeom prst="line">
            <a:avLst/>
          </a:prstGeom>
          <a:ln w="19050">
            <a:solidFill>
              <a:srgbClr val="16A5A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6AE847-7FB8-4A4A-A028-8D6740365381}"/>
              </a:ext>
            </a:extLst>
          </p:cNvPr>
          <p:cNvSpPr>
            <a:spLocks noGrp="1"/>
          </p:cNvSpPr>
          <p:nvPr/>
        </p:nvSpPr>
        <p:spPr>
          <a:xfrm>
            <a:off x="5010150" y="2505075"/>
            <a:ext cx="1847850" cy="1752600"/>
          </a:xfrm>
          <a:prstGeom prst="roundRect">
            <a:avLst>
              <a:gd name="adj" fmla="val 4348"/>
            </a:avLst>
          </a:prstGeom>
          <a:solidFill>
            <a:srgbClr val="DDF2EF"/>
          </a:solidFill>
          <a:ln w="9525">
            <a:solidFill>
              <a:srgbClr val="16A5A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FE2745-CA4E-4FDA-9E2F-171FC08593EC}"/>
              </a:ext>
            </a:extLst>
          </p:cNvPr>
          <p:cNvSpPr>
            <a:spLocks noGrp="1"/>
          </p:cNvSpPr>
          <p:nvPr/>
        </p:nvSpPr>
        <p:spPr>
          <a:xfrm>
            <a:off x="5181600" y="272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57C4FB-9030-4C87-9078-B80512B35BF4}"/>
              </a:ext>
            </a:extLst>
          </p:cNvPr>
          <p:cNvSpPr>
            <a:spLocks noGrp="1"/>
          </p:cNvSpPr>
          <p:nvPr/>
        </p:nvSpPr>
        <p:spPr>
          <a:xfrm>
            <a:off x="5181600" y="3067050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E14AD1-7C3E-4344-89B0-E1573FC539EE}"/>
              </a:ext>
            </a:extLst>
          </p:cNvPr>
          <p:cNvSpPr>
            <a:spLocks noGrp="1"/>
          </p:cNvSpPr>
          <p:nvPr/>
        </p:nvSpPr>
        <p:spPr>
          <a:xfrm>
            <a:off x="5181600" y="3457575"/>
            <a:ext cx="14859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Expected-value ranking and funding confidence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62C6C67-A7C2-4022-8EC2-0ACA4BDA3010}"/>
              </a:ext>
            </a:extLst>
          </p:cNvPr>
          <p:cNvSpPr>
            <a:spLocks noGrp="1"/>
          </p:cNvSpPr>
          <p:nvPr/>
        </p:nvSpPr>
        <p:spPr>
          <a:xfrm>
            <a:off x="6858000" y="3381375"/>
            <a:ext cx="295275" cy="0"/>
          </a:xfrm>
          <a:prstGeom prst="line">
            <a:avLst/>
          </a:prstGeom>
          <a:ln w="19050">
            <a:solidFill>
              <a:srgbClr val="16A5A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DB10CF5-C5F8-4EB9-8CA3-C3419FBB53EF}"/>
              </a:ext>
            </a:extLst>
          </p:cNvPr>
          <p:cNvSpPr>
            <a:spLocks noGrp="1"/>
          </p:cNvSpPr>
          <p:nvPr/>
        </p:nvSpPr>
        <p:spPr>
          <a:xfrm>
            <a:off x="7200900" y="2505075"/>
            <a:ext cx="18478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C0F779-E744-42F9-8251-C8695CD96E7A}"/>
              </a:ext>
            </a:extLst>
          </p:cNvPr>
          <p:cNvSpPr>
            <a:spLocks noGrp="1"/>
          </p:cNvSpPr>
          <p:nvPr/>
        </p:nvSpPr>
        <p:spPr>
          <a:xfrm>
            <a:off x="7372350" y="272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8D1C93-3841-47E6-A066-2B9F2C24FD51}"/>
              </a:ext>
            </a:extLst>
          </p:cNvPr>
          <p:cNvSpPr>
            <a:spLocks noGrp="1"/>
          </p:cNvSpPr>
          <p:nvPr/>
        </p:nvSpPr>
        <p:spPr>
          <a:xfrm>
            <a:off x="7372350" y="3067050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E56A7-B744-4616-9B2B-49879281D40A}"/>
              </a:ext>
            </a:extLst>
          </p:cNvPr>
          <p:cNvSpPr>
            <a:spLocks noGrp="1"/>
          </p:cNvSpPr>
          <p:nvPr/>
        </p:nvSpPr>
        <p:spPr>
          <a:xfrm>
            <a:off x="7372350" y="3457575"/>
            <a:ext cx="14859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Documents, essay evidence, and human review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C8EFD9-A213-4E6A-B2B4-27B19EC1FAC9}"/>
              </a:ext>
            </a:extLst>
          </p:cNvPr>
          <p:cNvSpPr>
            <a:spLocks noGrp="1"/>
          </p:cNvSpPr>
          <p:nvPr/>
        </p:nvSpPr>
        <p:spPr>
          <a:xfrm>
            <a:off x="9048750" y="3381375"/>
            <a:ext cx="295275" cy="0"/>
          </a:xfrm>
          <a:prstGeom prst="line">
            <a:avLst/>
          </a:prstGeom>
          <a:ln w="19050">
            <a:solidFill>
              <a:srgbClr val="16A5A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19E3268-D5E1-45A8-B438-928329056DE1}"/>
              </a:ext>
            </a:extLst>
          </p:cNvPr>
          <p:cNvSpPr>
            <a:spLocks noGrp="1"/>
          </p:cNvSpPr>
          <p:nvPr/>
        </p:nvSpPr>
        <p:spPr>
          <a:xfrm>
            <a:off x="9391650" y="2505075"/>
            <a:ext cx="18478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E32E88-291B-4270-9BAF-1DFDB7CA662C}"/>
              </a:ext>
            </a:extLst>
          </p:cNvPr>
          <p:cNvSpPr>
            <a:spLocks noGrp="1"/>
          </p:cNvSpPr>
          <p:nvPr/>
        </p:nvSpPr>
        <p:spPr>
          <a:xfrm>
            <a:off x="9563100" y="272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0A33A0-BC01-44DC-B40A-196F8B6D3E76}"/>
              </a:ext>
            </a:extLst>
          </p:cNvPr>
          <p:cNvSpPr>
            <a:spLocks noGrp="1"/>
          </p:cNvSpPr>
          <p:nvPr/>
        </p:nvSpPr>
        <p:spPr>
          <a:xfrm>
            <a:off x="9563100" y="3067050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595D78-95F0-47D2-AEBB-30FC5A1E1BA5}"/>
              </a:ext>
            </a:extLst>
          </p:cNvPr>
          <p:cNvSpPr>
            <a:spLocks noGrp="1"/>
          </p:cNvSpPr>
          <p:nvPr/>
        </p:nvSpPr>
        <p:spPr>
          <a:xfrm>
            <a:off x="9563100" y="3457575"/>
            <a:ext cx="14859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Pipeline stages, deadlines, and reuse opportunities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9AEB5F-BB62-4E87-9A02-DA46217B298E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7620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Human authorisation stays in control before any portal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668307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2654DA6-D488-4A80-9A05-34F6F4A6114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FUNDING INTELLIGENCE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FA0C45-E498-4AC0-872D-8A7717F195D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financial plan starts with the gap, not a list of 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B1169B-BF28-4B5F-A67A-A573059F215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The planner separates confirmed aid from estimated outcomes so students can judge risk clearly.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707CF66-E0B4-46DB-B474-A8316D493D7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837E7-FD89-4237-AC58-6FF13ACA899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E4E73E-8889-443B-914E-C15B05AA767B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25B7B5-4F7E-47AB-B8EA-67D3E83B8C75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0972800" cy="1200150"/>
          </a:xfrm>
          <a:prstGeom prst="roundRect">
            <a:avLst>
              <a:gd name="adj" fmla="val 6349"/>
            </a:avLst>
          </a:prstGeom>
          <a:solidFill>
            <a:srgbClr val="0D515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7CD9E2-BE5F-4900-8E1F-F3F8DC4E21D9}"/>
              </a:ext>
            </a:extLst>
          </p:cNvPr>
          <p:cNvSpPr>
            <a:spLocks noGrp="1"/>
          </p:cNvSpPr>
          <p:nvPr/>
        </p:nvSpPr>
        <p:spPr>
          <a:xfrm>
            <a:off x="895350" y="2609850"/>
            <a:ext cx="2381250" cy="1809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D8F1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F1EE"/>
                </a:solidFill>
                <a:latin typeface="Aptos"/>
                <a:ea typeface="Aptos"/>
                <a:cs typeface="Aptos"/>
              </a:rPr>
              <a:t>Annual education 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79C38-361B-4FF8-840A-A5250102095C}"/>
              </a:ext>
            </a:extLst>
          </p:cNvPr>
          <p:cNvSpPr>
            <a:spLocks noGrp="1"/>
          </p:cNvSpPr>
          <p:nvPr/>
        </p:nvSpPr>
        <p:spPr>
          <a:xfrm>
            <a:off x="4171950" y="2609850"/>
            <a:ext cx="2190750" cy="1809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D8F1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F1EE"/>
                </a:solidFill>
                <a:latin typeface="Aptos"/>
                <a:ea typeface="Aptos"/>
                <a:cs typeface="Aptos"/>
              </a:rPr>
              <a:t>− Confirmed aid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4033A8-069D-452A-B7C5-2428F73E6022}"/>
              </a:ext>
            </a:extLst>
          </p:cNvPr>
          <p:cNvSpPr>
            <a:spLocks noGrp="1"/>
          </p:cNvSpPr>
          <p:nvPr/>
        </p:nvSpPr>
        <p:spPr>
          <a:xfrm>
            <a:off x="7486650" y="2609850"/>
            <a:ext cx="2095500" cy="1809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D8F1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F1EE"/>
                </a:solidFill>
                <a:latin typeface="Aptos"/>
                <a:ea typeface="Aptos"/>
                <a:cs typeface="Aptos"/>
              </a:rPr>
              <a:t>= Remaining gap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B3CC5-E7D5-4449-9100-6EAD3690801C}"/>
              </a:ext>
            </a:extLst>
          </p:cNvPr>
          <p:cNvSpPr>
            <a:spLocks noGrp="1"/>
          </p:cNvSpPr>
          <p:nvPr/>
        </p:nvSpPr>
        <p:spPr>
          <a:xfrm>
            <a:off x="895350" y="291465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₹ 2,00,000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314045-6371-4CA9-9121-0F6AE0A284D3}"/>
              </a:ext>
            </a:extLst>
          </p:cNvPr>
          <p:cNvSpPr>
            <a:spLocks noGrp="1"/>
          </p:cNvSpPr>
          <p:nvPr/>
        </p:nvSpPr>
        <p:spPr>
          <a:xfrm>
            <a:off x="4171950" y="291465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₹ 30,000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717748-3D88-4A65-BB0F-08D0656ED893}"/>
              </a:ext>
            </a:extLst>
          </p:cNvPr>
          <p:cNvSpPr>
            <a:spLocks noGrp="1"/>
          </p:cNvSpPr>
          <p:nvPr/>
        </p:nvSpPr>
        <p:spPr>
          <a:xfrm>
            <a:off x="7486650" y="29146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 b="1">
                <a:solidFill>
                  <a:srgbClr val="FFE0A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E0A5"/>
                </a:solidFill>
                <a:latin typeface="Aptos"/>
                <a:ea typeface="Aptos"/>
                <a:cs typeface="Aptos"/>
              </a:rPr>
              <a:t>₹ 1,70,000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4E8971-0CEF-4CC4-8FBF-B380B3241AE9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502920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AC166-4835-4F66-A546-4E3D38C73F62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Expected value portfolio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2A4523-1859-4C87-AD41-819CDC83DFB5}"/>
              </a:ext>
            </a:extLst>
          </p:cNvPr>
          <p:cNvSpPr>
            <a:spLocks noGrp="1"/>
          </p:cNvSpPr>
          <p:nvPr/>
        </p:nvSpPr>
        <p:spPr>
          <a:xfrm>
            <a:off x="895350" y="4657725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Ranks opportunities by amount, profile match, and deadline urgency.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F044B72-3D29-4C39-BCB9-E6378605CC3F}"/>
              </a:ext>
            </a:extLst>
          </p:cNvPr>
          <p:cNvSpPr>
            <a:spLocks noGrp="1"/>
          </p:cNvSpPr>
          <p:nvPr/>
        </p:nvSpPr>
        <p:spPr>
          <a:xfrm>
            <a:off x="5943600" y="4019550"/>
            <a:ext cx="5638800" cy="1476375"/>
          </a:xfrm>
          <a:prstGeom prst="roundRect">
            <a:avLst>
              <a:gd name="adj" fmla="val 5161"/>
            </a:avLst>
          </a:prstGeom>
          <a:solidFill>
            <a:srgbClr val="EAF6F4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146378-F540-4AEB-96C9-830020511BBB}"/>
              </a:ext>
            </a:extLst>
          </p:cNvPr>
          <p:cNvSpPr>
            <a:spLocks noGrp="1"/>
          </p:cNvSpPr>
          <p:nvPr/>
        </p:nvSpPr>
        <p:spPr>
          <a:xfrm>
            <a:off x="6229350" y="4286250"/>
            <a:ext cx="3524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Funding Confidence Meter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2E4A10-683F-45A9-A797-F582C27B8110}"/>
              </a:ext>
            </a:extLst>
          </p:cNvPr>
          <p:cNvSpPr>
            <a:spLocks noGrp="1"/>
          </p:cNvSpPr>
          <p:nvPr/>
        </p:nvSpPr>
        <p:spPr>
          <a:xfrm>
            <a:off x="6229350" y="4714875"/>
            <a:ext cx="8763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Guaranteed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4DFF07-0874-4F7C-AD05-0099CE8F8770}"/>
              </a:ext>
            </a:extLst>
          </p:cNvPr>
          <p:cNvSpPr>
            <a:spLocks noGrp="1"/>
          </p:cNvSpPr>
          <p:nvPr/>
        </p:nvSpPr>
        <p:spPr>
          <a:xfrm>
            <a:off x="7334250" y="4714875"/>
            <a:ext cx="6858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Probable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6F7361-B236-4F06-B433-AA4BEEB3BA1F}"/>
              </a:ext>
            </a:extLst>
          </p:cNvPr>
          <p:cNvSpPr>
            <a:spLocks noGrp="1"/>
          </p:cNvSpPr>
          <p:nvPr/>
        </p:nvSpPr>
        <p:spPr>
          <a:xfrm>
            <a:off x="8286750" y="4714875"/>
            <a:ext cx="6858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3966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966B4"/>
                </a:solidFill>
                <a:latin typeface="Aptos"/>
                <a:ea typeface="Aptos"/>
                <a:cs typeface="Aptos"/>
              </a:rPr>
              <a:t>Possible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EE8072-2645-4E12-8A2A-A17152CB0626}"/>
              </a:ext>
            </a:extLst>
          </p:cNvPr>
          <p:cNvSpPr>
            <a:spLocks noGrp="1"/>
          </p:cNvSpPr>
          <p:nvPr/>
        </p:nvSpPr>
        <p:spPr>
          <a:xfrm>
            <a:off x="9239250" y="4714875"/>
            <a:ext cx="476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D68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812B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EEBA644-F8CC-4F06-A2BC-6BEC945948D3}"/>
              </a:ext>
            </a:extLst>
          </p:cNvPr>
          <p:cNvSpPr>
            <a:spLocks noGrp="1"/>
          </p:cNvSpPr>
          <p:nvPr/>
        </p:nvSpPr>
        <p:spPr>
          <a:xfrm>
            <a:off x="6229350" y="5029200"/>
            <a:ext cx="1285875" cy="114300"/>
          </a:xfrm>
          <a:prstGeom prst="roundRect">
            <a:avLst>
              <a:gd name="adj" fmla="val 50000"/>
            </a:avLst>
          </a:prstGeom>
          <a:solidFill>
            <a:srgbClr val="247B5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BF03188-777C-4470-A9FB-FEC43A25C350}"/>
              </a:ext>
            </a:extLst>
          </p:cNvPr>
          <p:cNvSpPr>
            <a:spLocks noGrp="1"/>
          </p:cNvSpPr>
          <p:nvPr/>
        </p:nvSpPr>
        <p:spPr>
          <a:xfrm>
            <a:off x="7553325" y="502920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117D8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38A4B10-E07B-4765-B38F-CBB0EC40579F}"/>
              </a:ext>
            </a:extLst>
          </p:cNvPr>
          <p:cNvSpPr>
            <a:spLocks noGrp="1"/>
          </p:cNvSpPr>
          <p:nvPr/>
        </p:nvSpPr>
        <p:spPr>
          <a:xfrm>
            <a:off x="8905875" y="5029200"/>
            <a:ext cx="1000125" cy="114300"/>
          </a:xfrm>
          <a:prstGeom prst="roundRect">
            <a:avLst>
              <a:gd name="adj" fmla="val 50000"/>
            </a:avLst>
          </a:prstGeom>
          <a:solidFill>
            <a:srgbClr val="3966B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01AAA07-A3A6-42CD-BFEC-043F91E3E1D1}"/>
              </a:ext>
            </a:extLst>
          </p:cNvPr>
          <p:cNvSpPr>
            <a:spLocks noGrp="1"/>
          </p:cNvSpPr>
          <p:nvPr/>
        </p:nvSpPr>
        <p:spPr>
          <a:xfrm>
            <a:off x="9944100" y="5029200"/>
            <a:ext cx="1190625" cy="114300"/>
          </a:xfrm>
          <a:prstGeom prst="roundRect">
            <a:avLst>
              <a:gd name="adj" fmla="val 50000"/>
            </a:avLst>
          </a:prstGeom>
          <a:solidFill>
            <a:srgbClr val="D6812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4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7E1F5E9-12D3-4B3D-9174-769307DC58C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WHAT MAKES EDUFUND DIFFERENT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D3F786-DE29-4088-A764-2E29867F87C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Three decision tools turn an application list into a practical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43B7EF-05CA-4FBC-9F6E-6F3547714B6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These features focus on uncertainty, effort, and integrity.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D649691-EA4D-4B03-8995-A118D56CA91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183408-8A5C-4087-9DE9-C007ADEAA38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E5C6AF-CB52-4225-9863-FF310EE2599F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200995-D695-454C-80DD-DA1AA72040CC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33528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0FB7EE-C263-4F40-B727-63DB43D55C9F}"/>
              </a:ext>
            </a:extLst>
          </p:cNvPr>
          <p:cNvSpPr>
            <a:spLocks noGrp="1"/>
          </p:cNvSpPr>
          <p:nvPr/>
        </p:nvSpPr>
        <p:spPr>
          <a:xfrm>
            <a:off x="838200" y="2657475"/>
            <a:ext cx="419100" cy="76200"/>
          </a:xfrm>
          <a:prstGeom prst="roundRect">
            <a:avLst>
              <a:gd name="adj" fmla="val 50000"/>
            </a:avLst>
          </a:prstGeom>
          <a:solidFill>
            <a:srgbClr val="117D8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678467-E0CB-488E-BE84-4C22D9DEA492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17B77-F1C5-42F8-A2B4-8E8C16F14BE0}"/>
              </a:ext>
            </a:extLst>
          </p:cNvPr>
          <p:cNvSpPr>
            <a:spLocks noGrp="1"/>
          </p:cNvSpPr>
          <p:nvPr/>
        </p:nvSpPr>
        <p:spPr>
          <a:xfrm>
            <a:off x="838200" y="3381375"/>
            <a:ext cx="28384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Funding Confidence Meter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2573D-BBA2-4A90-BDCA-1A62C132F6F0}"/>
              </a:ext>
            </a:extLst>
          </p:cNvPr>
          <p:cNvSpPr>
            <a:spLocks noGrp="1"/>
          </p:cNvSpPr>
          <p:nvPr/>
        </p:nvSpPr>
        <p:spPr>
          <a:xfrm>
            <a:off x="838200" y="4048125"/>
            <a:ext cx="27813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Shows confirmed, likely, possible, and uncovered funding in one view.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942176-32E0-480F-91AB-68367B941401}"/>
              </a:ext>
            </a:extLst>
          </p:cNvPr>
          <p:cNvSpPr>
            <a:spLocks noGrp="1"/>
          </p:cNvSpPr>
          <p:nvPr/>
        </p:nvSpPr>
        <p:spPr>
          <a:xfrm>
            <a:off x="4276725" y="2428875"/>
            <a:ext cx="33528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D11744-4E32-48EA-9867-0E14C2AA68FD}"/>
              </a:ext>
            </a:extLst>
          </p:cNvPr>
          <p:cNvSpPr>
            <a:spLocks noGrp="1"/>
          </p:cNvSpPr>
          <p:nvPr/>
        </p:nvSpPr>
        <p:spPr>
          <a:xfrm>
            <a:off x="4505325" y="2657475"/>
            <a:ext cx="419100" cy="76200"/>
          </a:xfrm>
          <a:prstGeom prst="roundRect">
            <a:avLst>
              <a:gd name="adj" fmla="val 50000"/>
            </a:avLst>
          </a:prstGeom>
          <a:solidFill>
            <a:srgbClr val="3966B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EDC416-D314-4939-B7C8-8A89BE3ACBC1}"/>
              </a:ext>
            </a:extLst>
          </p:cNvPr>
          <p:cNvSpPr>
            <a:spLocks noGrp="1"/>
          </p:cNvSpPr>
          <p:nvPr/>
        </p:nvSpPr>
        <p:spPr>
          <a:xfrm>
            <a:off x="4505325" y="29718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3966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966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577A6E-A2AF-4B82-BD1A-56E4EC14D9AA}"/>
              </a:ext>
            </a:extLst>
          </p:cNvPr>
          <p:cNvSpPr>
            <a:spLocks noGrp="1"/>
          </p:cNvSpPr>
          <p:nvPr/>
        </p:nvSpPr>
        <p:spPr>
          <a:xfrm>
            <a:off x="4505325" y="3381375"/>
            <a:ext cx="28384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Document Reuse Map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B041E3-548B-45DE-B3A9-8E052E03ABA5}"/>
              </a:ext>
            </a:extLst>
          </p:cNvPr>
          <p:cNvSpPr>
            <a:spLocks noGrp="1"/>
          </p:cNvSpPr>
          <p:nvPr/>
        </p:nvSpPr>
        <p:spPr>
          <a:xfrm>
            <a:off x="4505325" y="4048125"/>
            <a:ext cx="27813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Finds evidence that can support more than one active application.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C8DEE6-096E-4CD2-939A-FB8540D46E88}"/>
              </a:ext>
            </a:extLst>
          </p:cNvPr>
          <p:cNvSpPr>
            <a:spLocks noGrp="1"/>
          </p:cNvSpPr>
          <p:nvPr/>
        </p:nvSpPr>
        <p:spPr>
          <a:xfrm>
            <a:off x="7943850" y="2428875"/>
            <a:ext cx="33528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FE53565-9255-429A-9D97-83FBD527D337}"/>
              </a:ext>
            </a:extLst>
          </p:cNvPr>
          <p:cNvSpPr>
            <a:spLocks noGrp="1"/>
          </p:cNvSpPr>
          <p:nvPr/>
        </p:nvSpPr>
        <p:spPr>
          <a:xfrm>
            <a:off x="8172450" y="2657475"/>
            <a:ext cx="419100" cy="76200"/>
          </a:xfrm>
          <a:prstGeom prst="roundRect">
            <a:avLst>
              <a:gd name="adj" fmla="val 50000"/>
            </a:avLst>
          </a:prstGeom>
          <a:solidFill>
            <a:srgbClr val="D6812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BB65C4-15CE-4084-B216-95F4E5EF030E}"/>
              </a:ext>
            </a:extLst>
          </p:cNvPr>
          <p:cNvSpPr>
            <a:spLocks noGrp="1"/>
          </p:cNvSpPr>
          <p:nvPr/>
        </p:nvSpPr>
        <p:spPr>
          <a:xfrm>
            <a:off x="8172450" y="29718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D68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81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D539EC-06D3-4809-878A-5ABF8F0252B5}"/>
              </a:ext>
            </a:extLst>
          </p:cNvPr>
          <p:cNvSpPr>
            <a:spLocks noGrp="1"/>
          </p:cNvSpPr>
          <p:nvPr/>
        </p:nvSpPr>
        <p:spPr>
          <a:xfrm>
            <a:off x="8172450" y="3381375"/>
            <a:ext cx="28384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Essay Evidence Checker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A3E1EC-BB1B-4E11-88CA-5207154A6C22}"/>
              </a:ext>
            </a:extLst>
          </p:cNvPr>
          <p:cNvSpPr>
            <a:spLocks noGrp="1"/>
          </p:cNvSpPr>
          <p:nvPr/>
        </p:nvSpPr>
        <p:spPr>
          <a:xfrm>
            <a:off x="8172450" y="4048125"/>
            <a:ext cx="27813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Flags strong statements that do not appear in the student profile.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38EFEB-A2AC-41F2-A83B-71020ED038CD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Each feature gives the student a specific next action before the deadline closes.</a:t>
            </a:r>
          </a:p>
        </p:txBody>
      </p:sp>
    </p:spTree>
    <p:extLst>
      <p:ext uri="{BB962C8B-B14F-4D97-AF65-F5344CB8AC3E}">
        <p14:creationId xmlns:p14="http://schemas.microsoft.com/office/powerpoint/2010/main" val="209328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57C9BD5-F4A6-46E9-B43E-662A6D02D69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APPLICATION AUTOPILOT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BABEAF-632F-4C3E-A7EA-C272017E917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AI accelerates preparation while the student retains control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E4A4F1-3C83-49FE-9177-0F267DA58F9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prepares the work, highlights gaps, and requires review before an application packet is marked ready.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E045C59-C37F-448C-BC21-4983A3D7437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DFF62-5677-41AE-AE95-5B82710D73E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7F1716-E348-4E57-BB74-D2266F2DAA92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E4B875-5C0F-4B74-9E22-DCE5F187B989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EAF6F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DB123D-B64A-48DB-BB3E-86F622E4AD66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666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2FF85B-321B-412A-8432-2D913665E79B}"/>
              </a:ext>
            </a:extLst>
          </p:cNvPr>
          <p:cNvSpPr>
            <a:spLocks noGrp="1"/>
          </p:cNvSpPr>
          <p:nvPr/>
        </p:nvSpPr>
        <p:spPr>
          <a:xfrm>
            <a:off x="1885950" y="2209800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AE0456-6732-440E-8CD0-98F83070FD14}"/>
              </a:ext>
            </a:extLst>
          </p:cNvPr>
          <p:cNvSpPr>
            <a:spLocks noGrp="1"/>
          </p:cNvSpPr>
          <p:nvPr/>
        </p:nvSpPr>
        <p:spPr>
          <a:xfrm>
            <a:off x="1885950" y="2476500"/>
            <a:ext cx="5524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Read required documents and prompts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4E2E1C5-C67F-4B0E-9DE6-39197CFE63BC}"/>
              </a:ext>
            </a:extLst>
          </p:cNvPr>
          <p:cNvSpPr>
            <a:spLocks noGrp="1"/>
          </p:cNvSpPr>
          <p:nvPr/>
        </p:nvSpPr>
        <p:spPr>
          <a:xfrm>
            <a:off x="1228725" y="2686050"/>
            <a:ext cx="0" cy="304800"/>
          </a:xfrm>
          <a:prstGeom prst="line">
            <a:avLst/>
          </a:prstGeom>
          <a:ln w="19050">
            <a:solidFill>
              <a:srgbClr val="16A5A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D551D8-31B3-4B6B-8492-5400114AFD2B}"/>
              </a:ext>
            </a:extLst>
          </p:cNvPr>
          <p:cNvSpPr>
            <a:spLocks noGrp="1"/>
          </p:cNvSpPr>
          <p:nvPr/>
        </p:nvSpPr>
        <p:spPr>
          <a:xfrm>
            <a:off x="895350" y="3000375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EAF6F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39ABF1-7971-41A5-8A3C-7FED0F81C7EE}"/>
              </a:ext>
            </a:extLst>
          </p:cNvPr>
          <p:cNvSpPr>
            <a:spLocks noGrp="1"/>
          </p:cNvSpPr>
          <p:nvPr/>
        </p:nvSpPr>
        <p:spPr>
          <a:xfrm>
            <a:off x="895350" y="3143250"/>
            <a:ext cx="666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9633A4-F9C4-4A64-A751-297C035AD069}"/>
              </a:ext>
            </a:extLst>
          </p:cNvPr>
          <p:cNvSpPr>
            <a:spLocks noGrp="1"/>
          </p:cNvSpPr>
          <p:nvPr/>
        </p:nvSpPr>
        <p:spPr>
          <a:xfrm>
            <a:off x="1885950" y="301942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Draft support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42FC2-E496-4DF1-A0FF-DC966A095DF1}"/>
              </a:ext>
            </a:extLst>
          </p:cNvPr>
          <p:cNvSpPr>
            <a:spLocks noGrp="1"/>
          </p:cNvSpPr>
          <p:nvPr/>
        </p:nvSpPr>
        <p:spPr>
          <a:xfrm>
            <a:off x="1885950" y="3286125"/>
            <a:ext cx="5524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Generate and refine a response from the profile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43E2F5B-AF56-4CEE-89E3-40DF4EC6AE4A}"/>
              </a:ext>
            </a:extLst>
          </p:cNvPr>
          <p:cNvSpPr>
            <a:spLocks noGrp="1"/>
          </p:cNvSpPr>
          <p:nvPr/>
        </p:nvSpPr>
        <p:spPr>
          <a:xfrm>
            <a:off x="1228725" y="3495675"/>
            <a:ext cx="0" cy="304800"/>
          </a:xfrm>
          <a:prstGeom prst="line">
            <a:avLst/>
          </a:prstGeom>
          <a:ln w="19050">
            <a:solidFill>
              <a:srgbClr val="16A5A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9D68C4-F439-42A9-9847-79DB92F93AB5}"/>
              </a:ext>
            </a:extLst>
          </p:cNvPr>
          <p:cNvSpPr>
            <a:spLocks noGrp="1"/>
          </p:cNvSpPr>
          <p:nvPr/>
        </p:nvSpPr>
        <p:spPr>
          <a:xfrm>
            <a:off x="895350" y="38100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EAF6F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389940-2AC4-40D9-8D84-A6E842FAA908}"/>
              </a:ext>
            </a:extLst>
          </p:cNvPr>
          <p:cNvSpPr>
            <a:spLocks noGrp="1"/>
          </p:cNvSpPr>
          <p:nvPr/>
        </p:nvSpPr>
        <p:spPr>
          <a:xfrm>
            <a:off x="895350" y="3952875"/>
            <a:ext cx="666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EECAF6-5CF3-48E0-BC25-4F9B2A4616E6}"/>
              </a:ext>
            </a:extLst>
          </p:cNvPr>
          <p:cNvSpPr>
            <a:spLocks noGrp="1"/>
          </p:cNvSpPr>
          <p:nvPr/>
        </p:nvSpPr>
        <p:spPr>
          <a:xfrm>
            <a:off x="1885950" y="3829050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Evidence check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26411-163A-4130-9994-0F63F3915BB5}"/>
              </a:ext>
            </a:extLst>
          </p:cNvPr>
          <p:cNvSpPr>
            <a:spLocks noGrp="1"/>
          </p:cNvSpPr>
          <p:nvPr/>
        </p:nvSpPr>
        <p:spPr>
          <a:xfrm>
            <a:off x="1885950" y="4095750"/>
            <a:ext cx="5524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Compare key claims against stored achievements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5846AFB-7949-4BDD-A1CB-72B40043DEDA}"/>
              </a:ext>
            </a:extLst>
          </p:cNvPr>
          <p:cNvSpPr>
            <a:spLocks noGrp="1"/>
          </p:cNvSpPr>
          <p:nvPr/>
        </p:nvSpPr>
        <p:spPr>
          <a:xfrm>
            <a:off x="1228725" y="4305300"/>
            <a:ext cx="0" cy="304800"/>
          </a:xfrm>
          <a:prstGeom prst="line">
            <a:avLst/>
          </a:prstGeom>
          <a:ln w="19050">
            <a:solidFill>
              <a:srgbClr val="16A5A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E03A920-6D2A-4C97-B52A-931303998A71}"/>
              </a:ext>
            </a:extLst>
          </p:cNvPr>
          <p:cNvSpPr>
            <a:spLocks noGrp="1"/>
          </p:cNvSpPr>
          <p:nvPr/>
        </p:nvSpPr>
        <p:spPr>
          <a:xfrm>
            <a:off x="895350" y="4619625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247B5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B69323-D43E-4A74-A478-C8F3CBBBAA75}"/>
              </a:ext>
            </a:extLst>
          </p:cNvPr>
          <p:cNvSpPr>
            <a:spLocks noGrp="1"/>
          </p:cNvSpPr>
          <p:nvPr/>
        </p:nvSpPr>
        <p:spPr>
          <a:xfrm>
            <a:off x="895350" y="4762500"/>
            <a:ext cx="666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F40E26-16CB-4D13-8A78-17D4ABEB30C3}"/>
              </a:ext>
            </a:extLst>
          </p:cNvPr>
          <p:cNvSpPr>
            <a:spLocks noGrp="1"/>
          </p:cNvSpPr>
          <p:nvPr/>
        </p:nvSpPr>
        <p:spPr>
          <a:xfrm>
            <a:off x="1885950" y="463867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Student review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FFCAA8-6A08-462D-AD85-2EF8A6625053}"/>
              </a:ext>
            </a:extLst>
          </p:cNvPr>
          <p:cNvSpPr>
            <a:spLocks noGrp="1"/>
          </p:cNvSpPr>
          <p:nvPr/>
        </p:nvSpPr>
        <p:spPr>
          <a:xfrm>
            <a:off x="1885950" y="4905375"/>
            <a:ext cx="5524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Edit, approve, and submit through the official portal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D3DF31F-FA10-4130-BCAD-5993DB5A9F50}"/>
              </a:ext>
            </a:extLst>
          </p:cNvPr>
          <p:cNvSpPr>
            <a:spLocks noGrp="1"/>
          </p:cNvSpPr>
          <p:nvPr/>
        </p:nvSpPr>
        <p:spPr>
          <a:xfrm>
            <a:off x="7810500" y="2247900"/>
            <a:ext cx="3143250" cy="2762250"/>
          </a:xfrm>
          <a:prstGeom prst="roundRect">
            <a:avLst>
              <a:gd name="adj" fmla="val 2759"/>
            </a:avLst>
          </a:prstGeom>
          <a:solidFill>
            <a:srgbClr val="EFFAF5"/>
          </a:solidFill>
          <a:ln w="9525">
            <a:solidFill>
              <a:srgbClr val="B6DEC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089CAF-9812-4765-8E7F-D2A16740C35A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Safety boundary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98D4E4-51D5-40D1-B47C-638B112C67A7}"/>
              </a:ext>
            </a:extLst>
          </p:cNvPr>
          <p:cNvSpPr>
            <a:spLocks noGrp="1"/>
          </p:cNvSpPr>
          <p:nvPr/>
        </p:nvSpPr>
        <p:spPr>
          <a:xfrm>
            <a:off x="8096250" y="3086100"/>
            <a:ext cx="2333625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383A"/>
                </a:solidFill>
                <a:latin typeface="Aptos"/>
                <a:ea typeface="Aptos"/>
                <a:cs typeface="Aptos"/>
              </a:rPr>
              <a:t>EduFund never sends financial forms or essays to an external provider without explicit student review and authorisation.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AD3550-3236-4091-A8E5-8A6DD0B695AE}"/>
              </a:ext>
            </a:extLst>
          </p:cNvPr>
          <p:cNvSpPr>
            <a:spLocks noGrp="1"/>
          </p:cNvSpPr>
          <p:nvPr/>
        </p:nvSpPr>
        <p:spPr>
          <a:xfrm>
            <a:off x="8096250" y="430530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Official provider portal</a:t>
            </a:r>
          </a:p>
          <a:p>
            <a:pPr>
              <a:defRPr sz="1050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remains the final submission step</a:t>
            </a:r>
          </a:p>
        </p:txBody>
      </p:sp>
    </p:spTree>
    <p:extLst>
      <p:ext uri="{BB962C8B-B14F-4D97-AF65-F5344CB8AC3E}">
        <p14:creationId xmlns:p14="http://schemas.microsoft.com/office/powerpoint/2010/main" val="74795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E3C8145-9034-43B4-BE79-5C751C365CE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LIVE DEMO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439C5-7389-4122-B986-25F1CD1879A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two-minute journey from account creation to a ready application packet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AB7D6-B0BB-410D-80E0-4CAAF727D145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Use this sequence during the live demo so judges see the financial outcome before the interface details.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098F73A-05CD-47DF-974A-C44A84AF4F1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875CB2-13D5-4802-9A14-346D10BC587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4EA73-90EE-4535-A1AE-CFCABB5F5D3E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3546A-B248-44D7-B6F3-944CDF4CC439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BFD3F5D-5768-400D-A667-620CB3FC89D7}"/>
              </a:ext>
            </a:extLst>
          </p:cNvPr>
          <p:cNvSpPr>
            <a:spLocks noGrp="1"/>
          </p:cNvSpPr>
          <p:nvPr/>
        </p:nvSpPr>
        <p:spPr>
          <a:xfrm>
            <a:off x="942975" y="2628900"/>
            <a:ext cx="1514475" cy="0"/>
          </a:xfrm>
          <a:prstGeom prst="line">
            <a:avLst/>
          </a:prstGeom>
          <a:ln w="19050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215A2B-8D99-466D-AA1B-830CF811D57A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185737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DB936F-7DF0-463F-9FAA-73EE2A241258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A2531E-0D28-4B6E-9151-9C9029860C71}"/>
              </a:ext>
            </a:extLst>
          </p:cNvPr>
          <p:cNvSpPr>
            <a:spLocks noGrp="1"/>
          </p:cNvSpPr>
          <p:nvPr/>
        </p:nvSpPr>
        <p:spPr>
          <a:xfrm>
            <a:off x="800100" y="3638550"/>
            <a:ext cx="147637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Create a student account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75A71-5A84-4797-9CE1-15ACCF888EDF}"/>
              </a:ext>
            </a:extLst>
          </p:cNvPr>
          <p:cNvSpPr>
            <a:spLocks noGrp="1"/>
          </p:cNvSpPr>
          <p:nvPr/>
        </p:nvSpPr>
        <p:spPr>
          <a:xfrm>
            <a:off x="2800350" y="2505075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BDA22089-9572-4A2B-9BEB-2AC488A52F7C}"/>
              </a:ext>
            </a:extLst>
          </p:cNvPr>
          <p:cNvSpPr>
            <a:spLocks noGrp="1"/>
          </p:cNvSpPr>
          <p:nvPr/>
        </p:nvSpPr>
        <p:spPr>
          <a:xfrm>
            <a:off x="3133725" y="2628900"/>
            <a:ext cx="1514475" cy="0"/>
          </a:xfrm>
          <a:prstGeom prst="line">
            <a:avLst/>
          </a:prstGeom>
          <a:ln w="19050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18B725-6BEB-457B-8737-7C9706DBD742}"/>
              </a:ext>
            </a:extLst>
          </p:cNvPr>
          <p:cNvSpPr>
            <a:spLocks noGrp="1"/>
          </p:cNvSpPr>
          <p:nvPr/>
        </p:nvSpPr>
        <p:spPr>
          <a:xfrm>
            <a:off x="2800350" y="2971800"/>
            <a:ext cx="185737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00F452-3978-4B57-9831-0DF6295342D0}"/>
              </a:ext>
            </a:extLst>
          </p:cNvPr>
          <p:cNvSpPr>
            <a:spLocks noGrp="1"/>
          </p:cNvSpPr>
          <p:nvPr/>
        </p:nvSpPr>
        <p:spPr>
          <a:xfrm>
            <a:off x="2990850" y="323850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874714-D59A-4845-B602-1FE2665E40A8}"/>
              </a:ext>
            </a:extLst>
          </p:cNvPr>
          <p:cNvSpPr>
            <a:spLocks noGrp="1"/>
          </p:cNvSpPr>
          <p:nvPr/>
        </p:nvSpPr>
        <p:spPr>
          <a:xfrm>
            <a:off x="2990850" y="3638550"/>
            <a:ext cx="147637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Enter course, GPA, income range, annual cost, and aid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C398A4-B619-462A-B8EF-6BE4FA39C693}"/>
              </a:ext>
            </a:extLst>
          </p:cNvPr>
          <p:cNvSpPr>
            <a:spLocks noGrp="1"/>
          </p:cNvSpPr>
          <p:nvPr/>
        </p:nvSpPr>
        <p:spPr>
          <a:xfrm>
            <a:off x="4991100" y="2505075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4BD9FFC-C339-43E4-95B8-41FA921DC092}"/>
              </a:ext>
            </a:extLst>
          </p:cNvPr>
          <p:cNvSpPr>
            <a:spLocks noGrp="1"/>
          </p:cNvSpPr>
          <p:nvPr/>
        </p:nvSpPr>
        <p:spPr>
          <a:xfrm>
            <a:off x="5324475" y="2628900"/>
            <a:ext cx="1514475" cy="0"/>
          </a:xfrm>
          <a:prstGeom prst="line">
            <a:avLst/>
          </a:prstGeom>
          <a:ln w="19050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93975E-874E-481F-8673-7A808E15B251}"/>
              </a:ext>
            </a:extLst>
          </p:cNvPr>
          <p:cNvSpPr>
            <a:spLocks noGrp="1"/>
          </p:cNvSpPr>
          <p:nvPr/>
        </p:nvSpPr>
        <p:spPr>
          <a:xfrm>
            <a:off x="4991100" y="2971800"/>
            <a:ext cx="185737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9F6383-1F03-40D4-A829-BE871EEBBB7D}"/>
              </a:ext>
            </a:extLst>
          </p:cNvPr>
          <p:cNvSpPr>
            <a:spLocks noGrp="1"/>
          </p:cNvSpPr>
          <p:nvPr/>
        </p:nvSpPr>
        <p:spPr>
          <a:xfrm>
            <a:off x="5181600" y="323850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Planner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07CF3B-513E-4154-BE56-E5DFE03EEF46}"/>
              </a:ext>
            </a:extLst>
          </p:cNvPr>
          <p:cNvSpPr>
            <a:spLocks noGrp="1"/>
          </p:cNvSpPr>
          <p:nvPr/>
        </p:nvSpPr>
        <p:spPr>
          <a:xfrm>
            <a:off x="5181600" y="3638550"/>
            <a:ext cx="147637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Open the ranked portfolio and confidence meter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459F6E-52F5-4B2E-8BC8-2183E9FAFDB2}"/>
              </a:ext>
            </a:extLst>
          </p:cNvPr>
          <p:cNvSpPr>
            <a:spLocks noGrp="1"/>
          </p:cNvSpPr>
          <p:nvPr/>
        </p:nvSpPr>
        <p:spPr>
          <a:xfrm>
            <a:off x="7181850" y="2505075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03C14B8-6088-4E7A-9386-A2E37FEC89A0}"/>
              </a:ext>
            </a:extLst>
          </p:cNvPr>
          <p:cNvSpPr>
            <a:spLocks noGrp="1"/>
          </p:cNvSpPr>
          <p:nvPr/>
        </p:nvSpPr>
        <p:spPr>
          <a:xfrm>
            <a:off x="7515225" y="2628900"/>
            <a:ext cx="1514475" cy="0"/>
          </a:xfrm>
          <a:prstGeom prst="line">
            <a:avLst/>
          </a:prstGeom>
          <a:ln w="19050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9B9CE31-5468-412C-ADCE-5ED7053B671B}"/>
              </a:ext>
            </a:extLst>
          </p:cNvPr>
          <p:cNvSpPr>
            <a:spLocks noGrp="1"/>
          </p:cNvSpPr>
          <p:nvPr/>
        </p:nvSpPr>
        <p:spPr>
          <a:xfrm>
            <a:off x="7181850" y="2971800"/>
            <a:ext cx="185737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1EB884-56E2-48DE-8C41-9774BAB6AF20}"/>
              </a:ext>
            </a:extLst>
          </p:cNvPr>
          <p:cNvSpPr>
            <a:spLocks noGrp="1"/>
          </p:cNvSpPr>
          <p:nvPr/>
        </p:nvSpPr>
        <p:spPr>
          <a:xfrm>
            <a:off x="7372350" y="323850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Autopilot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DB16D8-8347-4175-AFED-30C5AAD99150}"/>
              </a:ext>
            </a:extLst>
          </p:cNvPr>
          <p:cNvSpPr>
            <a:spLocks noGrp="1"/>
          </p:cNvSpPr>
          <p:nvPr/>
        </p:nvSpPr>
        <p:spPr>
          <a:xfrm>
            <a:off x="7372350" y="3638550"/>
            <a:ext cx="147637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Choose one match, audit documents, check essay evidence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FD8802-BDE1-4D55-88C5-5BE969FCD3D8}"/>
              </a:ext>
            </a:extLst>
          </p:cNvPr>
          <p:cNvSpPr>
            <a:spLocks noGrp="1"/>
          </p:cNvSpPr>
          <p:nvPr/>
        </p:nvSpPr>
        <p:spPr>
          <a:xfrm>
            <a:off x="9372600" y="2505075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D5D392AA-EE58-416D-AA2E-783BFF28A138}"/>
              </a:ext>
            </a:extLst>
          </p:cNvPr>
          <p:cNvSpPr>
            <a:spLocks noGrp="1"/>
          </p:cNvSpPr>
          <p:nvPr/>
        </p:nvSpPr>
        <p:spPr>
          <a:xfrm>
            <a:off x="9705975" y="2628900"/>
            <a:ext cx="1514475" cy="0"/>
          </a:xfrm>
          <a:prstGeom prst="line">
            <a:avLst/>
          </a:prstGeom>
          <a:ln w="19050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0E6D46F-503C-40DD-B1DF-0D6D61E6782F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185737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6299BA-8ABD-4EDC-9E84-A0EFA447DBA0}"/>
              </a:ext>
            </a:extLst>
          </p:cNvPr>
          <p:cNvSpPr>
            <a:spLocks noGrp="1"/>
          </p:cNvSpPr>
          <p:nvPr/>
        </p:nvSpPr>
        <p:spPr>
          <a:xfrm>
            <a:off x="9563100" y="3238500"/>
            <a:ext cx="147637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B1CF37-7203-4338-B609-BDCBF2D0D1F3}"/>
              </a:ext>
            </a:extLst>
          </p:cNvPr>
          <p:cNvSpPr>
            <a:spLocks noGrp="1"/>
          </p:cNvSpPr>
          <p:nvPr/>
        </p:nvSpPr>
        <p:spPr>
          <a:xfrm>
            <a:off x="9563100" y="3638550"/>
            <a:ext cx="147637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Move the application forward and inspect deadline conflicts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DE5213-09F5-493A-8A4F-16D93ED05B39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Demo tip: use a realistic fictional student profile and show the official programme link before discussing an application.</a:t>
            </a:r>
          </a:p>
        </p:txBody>
      </p:sp>
    </p:spTree>
    <p:extLst>
      <p:ext uri="{BB962C8B-B14F-4D97-AF65-F5344CB8AC3E}">
        <p14:creationId xmlns:p14="http://schemas.microsoft.com/office/powerpoint/2010/main" val="102629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342C064-F9C5-40A6-9192-BAB749B7012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BUILD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C769D2-073B-4E31-B7EC-BC74A53875D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modular web application with separate reasoning 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6BA0D8-513E-4996-A0D1-978F8E8DF35A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The implementation keeps profile data, planning logic, and application actions connected through a REST API.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7BDF44A-94CC-49E9-A230-0E7446E04A2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71981-1E19-46E4-9FF9-1525D6ACC33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F1DA7-869D-455F-AE14-FAC42476BA25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244979-AE90-43AA-A594-84E76ED12C3E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2457450" cy="2619375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74508-A6ED-48F7-A889-E0532B23B73E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BF8823F-2BB8-4352-88AA-8C08608A2F3F}"/>
              </a:ext>
            </a:extLst>
          </p:cNvPr>
          <p:cNvSpPr>
            <a:spLocks noGrp="1"/>
          </p:cNvSpPr>
          <p:nvPr/>
        </p:nvSpPr>
        <p:spPr>
          <a:xfrm>
            <a:off x="819150" y="3190875"/>
            <a:ext cx="177165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FC8650-7D28-443C-8667-754DB7577607}"/>
              </a:ext>
            </a:extLst>
          </p:cNvPr>
          <p:cNvSpPr>
            <a:spLocks noGrp="1"/>
          </p:cNvSpPr>
          <p:nvPr/>
        </p:nvSpPr>
        <p:spPr>
          <a:xfrm>
            <a:off x="819150" y="3448050"/>
            <a:ext cx="1952625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Student dashboard</a:t>
            </a:r>
          </a:p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Responsive light interface</a:t>
            </a:r>
          </a:p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Lucide icon system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DF8597-E345-43FA-A095-9EB498C07219}"/>
              </a:ext>
            </a:extLst>
          </p:cNvPr>
          <p:cNvSpPr>
            <a:spLocks noGrp="1"/>
          </p:cNvSpPr>
          <p:nvPr/>
        </p:nvSpPr>
        <p:spPr>
          <a:xfrm>
            <a:off x="3371850" y="2457450"/>
            <a:ext cx="2457450" cy="2619375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F241F9-9D35-4ACA-AB47-CCEBA95DEA33}"/>
              </a:ext>
            </a:extLst>
          </p:cNvPr>
          <p:cNvSpPr>
            <a:spLocks noGrp="1"/>
          </p:cNvSpPr>
          <p:nvPr/>
        </p:nvSpPr>
        <p:spPr>
          <a:xfrm>
            <a:off x="3581400" y="2781300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384CF25-5E5F-49A9-B4DB-8A984F3CA998}"/>
              </a:ext>
            </a:extLst>
          </p:cNvPr>
          <p:cNvSpPr>
            <a:spLocks noGrp="1"/>
          </p:cNvSpPr>
          <p:nvPr/>
        </p:nvSpPr>
        <p:spPr>
          <a:xfrm>
            <a:off x="3581400" y="3190875"/>
            <a:ext cx="177165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97C48C-BF9A-4A88-93D6-F0FFEB83D0E0}"/>
              </a:ext>
            </a:extLst>
          </p:cNvPr>
          <p:cNvSpPr>
            <a:spLocks noGrp="1"/>
          </p:cNvSpPr>
          <p:nvPr/>
        </p:nvSpPr>
        <p:spPr>
          <a:xfrm>
            <a:off x="3581400" y="3448050"/>
            <a:ext cx="1952625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Profile, opportunity, planner, autopilot, and pipeline endpoints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197D57-31DE-4C46-9C82-74F36C094F46}"/>
              </a:ext>
            </a:extLst>
          </p:cNvPr>
          <p:cNvSpPr>
            <a:spLocks noGrp="1"/>
          </p:cNvSpPr>
          <p:nvPr/>
        </p:nvSpPr>
        <p:spPr>
          <a:xfrm>
            <a:off x="6134100" y="2457450"/>
            <a:ext cx="2457450" cy="2619375"/>
          </a:xfrm>
          <a:prstGeom prst="roundRect">
            <a:avLst>
              <a:gd name="adj" fmla="val 3101"/>
            </a:avLst>
          </a:prstGeom>
          <a:solidFill>
            <a:srgbClr val="EAF6F4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B40E9E-16BC-444A-B236-A66C9E0B58F8}"/>
              </a:ext>
            </a:extLst>
          </p:cNvPr>
          <p:cNvSpPr>
            <a:spLocks noGrp="1"/>
          </p:cNvSpPr>
          <p:nvPr/>
        </p:nvSpPr>
        <p:spPr>
          <a:xfrm>
            <a:off x="6343650" y="2781300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Agent services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E61FEAD-CD2E-4D83-AA0D-78F5F5D1B1E2}"/>
              </a:ext>
            </a:extLst>
          </p:cNvPr>
          <p:cNvSpPr>
            <a:spLocks noGrp="1"/>
          </p:cNvSpPr>
          <p:nvPr/>
        </p:nvSpPr>
        <p:spPr>
          <a:xfrm>
            <a:off x="6343650" y="3190875"/>
            <a:ext cx="177165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F077E0-D593-4FCB-95B9-9B38FDFA6247}"/>
              </a:ext>
            </a:extLst>
          </p:cNvPr>
          <p:cNvSpPr>
            <a:spLocks noGrp="1"/>
          </p:cNvSpPr>
          <p:nvPr/>
        </p:nvSpPr>
        <p:spPr>
          <a:xfrm>
            <a:off x="6343650" y="3448050"/>
            <a:ext cx="1952625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Discovery</a:t>
            </a:r>
          </a:p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Eligibility</a:t>
            </a:r>
          </a:p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Funding planner</a:t>
            </a:r>
          </a:p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Autopilot</a:t>
            </a:r>
          </a:p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Deadline monitor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4B0AAD9-2859-4943-AED7-B64DF2070C5C}"/>
              </a:ext>
            </a:extLst>
          </p:cNvPr>
          <p:cNvSpPr>
            <a:spLocks noGrp="1"/>
          </p:cNvSpPr>
          <p:nvPr/>
        </p:nvSpPr>
        <p:spPr>
          <a:xfrm>
            <a:off x="8896350" y="2457450"/>
            <a:ext cx="2457450" cy="2619375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9C33A3-11AD-48CF-A2FA-3885709246E4}"/>
              </a:ext>
            </a:extLst>
          </p:cNvPr>
          <p:cNvSpPr>
            <a:spLocks noGrp="1"/>
          </p:cNvSpPr>
          <p:nvPr/>
        </p:nvSpPr>
        <p:spPr>
          <a:xfrm>
            <a:off x="9105900" y="2781300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853C84A-B945-474A-B6AC-B5A1ABD9F7DB}"/>
              </a:ext>
            </a:extLst>
          </p:cNvPr>
          <p:cNvSpPr>
            <a:spLocks noGrp="1"/>
          </p:cNvSpPr>
          <p:nvPr/>
        </p:nvSpPr>
        <p:spPr>
          <a:xfrm>
            <a:off x="9105900" y="3190875"/>
            <a:ext cx="177165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261CAF-862D-4A9B-ADE9-F2F8089CBC09}"/>
              </a:ext>
            </a:extLst>
          </p:cNvPr>
          <p:cNvSpPr>
            <a:spLocks noGrp="1"/>
          </p:cNvSpPr>
          <p:nvPr/>
        </p:nvSpPr>
        <p:spPr>
          <a:xfrm>
            <a:off x="9105900" y="3448050"/>
            <a:ext cx="1952625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User accounts</a:t>
            </a:r>
          </a:p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Profiles</a:t>
            </a:r>
          </a:p>
          <a:p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Application stages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CEFE25-A0AD-4F50-AAF6-E79B4E2A9B5F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Deployed frontend and backend can run independently through an environment-configured API URL.</a:t>
            </a:r>
          </a:p>
        </p:txBody>
      </p:sp>
    </p:spTree>
    <p:extLst>
      <p:ext uri="{BB962C8B-B14F-4D97-AF65-F5344CB8AC3E}">
        <p14:creationId xmlns:p14="http://schemas.microsoft.com/office/powerpoint/2010/main" val="87423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F357826-5394-43A6-B331-ED1871E217B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VALUE FOR STUDENTS AND INSTITUTIONS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787F76-9508-401C-AE62-93ADCDCC119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EduFund makes funding decisions easier to explain, organise, and act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8B484C-9852-421B-8074-76C8D9B19DCD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The current prototype focuses on a transparent workflow with official-source verification.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DCE405D-91AD-465D-A618-93CA029277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BBBB0-D1C3-4890-B423-DEC823654F3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B8471A-64E9-4906-8F3B-F2D586D4CAAD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701134-A897-43D7-903B-2559ACAC4FFC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09728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E8891F-4CE6-4109-8B19-A3492A1EE591}"/>
              </a:ext>
            </a:extLst>
          </p:cNvPr>
          <p:cNvSpPr>
            <a:spLocks noGrp="1"/>
          </p:cNvSpPr>
          <p:nvPr/>
        </p:nvSpPr>
        <p:spPr>
          <a:xfrm>
            <a:off x="876300" y="2543175"/>
            <a:ext cx="1714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7E3993-9224-4563-AAA2-393983E8A667}"/>
              </a:ext>
            </a:extLst>
          </p:cNvPr>
          <p:cNvSpPr>
            <a:spLocks noGrp="1"/>
          </p:cNvSpPr>
          <p:nvPr/>
        </p:nvSpPr>
        <p:spPr>
          <a:xfrm>
            <a:off x="3181350" y="2524125"/>
            <a:ext cx="7429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383A"/>
                </a:solidFill>
                <a:latin typeface="Aptos"/>
                <a:ea typeface="Aptos"/>
                <a:cs typeface="Aptos"/>
              </a:rPr>
              <a:t>See the funding gap, ranked matches, and next deadline in one place.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610C8C-D9CA-47A4-89CF-0AA3D1A901C7}"/>
              </a:ext>
            </a:extLst>
          </p:cNvPr>
          <p:cNvSpPr>
            <a:spLocks noGrp="1"/>
          </p:cNvSpPr>
          <p:nvPr/>
        </p:nvSpPr>
        <p:spPr>
          <a:xfrm>
            <a:off x="609600" y="3248025"/>
            <a:ext cx="10972800" cy="666750"/>
          </a:xfrm>
          <a:prstGeom prst="roundRect">
            <a:avLst>
              <a:gd name="adj" fmla="val 11429"/>
            </a:avLst>
          </a:prstGeom>
          <a:solidFill>
            <a:srgbClr val="EAF6F4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F158C-4CDD-4F10-9F9E-0236D2A23ABC}"/>
              </a:ext>
            </a:extLst>
          </p:cNvPr>
          <p:cNvSpPr>
            <a:spLocks noGrp="1"/>
          </p:cNvSpPr>
          <p:nvPr/>
        </p:nvSpPr>
        <p:spPr>
          <a:xfrm>
            <a:off x="876300" y="3457575"/>
            <a:ext cx="1714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Advisors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97158-0DC6-4E07-982F-C55948153226}"/>
              </a:ext>
            </a:extLst>
          </p:cNvPr>
          <p:cNvSpPr>
            <a:spLocks noGrp="1"/>
          </p:cNvSpPr>
          <p:nvPr/>
        </p:nvSpPr>
        <p:spPr>
          <a:xfrm>
            <a:off x="3181350" y="3438525"/>
            <a:ext cx="7429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383A"/>
                </a:solidFill>
                <a:latin typeface="Aptos"/>
                <a:ea typeface="Aptos"/>
                <a:cs typeface="Aptos"/>
              </a:rPr>
              <a:t>Review a student's plan and application readiness without rebuilding the picture.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7AADBC-9E33-434A-AE9E-046EA35B9B17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109728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3B5175-92BB-4185-A64C-1C8B2A736879}"/>
              </a:ext>
            </a:extLst>
          </p:cNvPr>
          <p:cNvSpPr>
            <a:spLocks noGrp="1"/>
          </p:cNvSpPr>
          <p:nvPr/>
        </p:nvSpPr>
        <p:spPr>
          <a:xfrm>
            <a:off x="876300" y="4371975"/>
            <a:ext cx="1714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Institutions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F48586-B969-4540-BBC5-381719D2120A}"/>
              </a:ext>
            </a:extLst>
          </p:cNvPr>
          <p:cNvSpPr>
            <a:spLocks noGrp="1"/>
          </p:cNvSpPr>
          <p:nvPr/>
        </p:nvSpPr>
        <p:spPr>
          <a:xfrm>
            <a:off x="3181350" y="4352925"/>
            <a:ext cx="7429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383A"/>
                </a:solidFill>
                <a:latin typeface="Aptos"/>
                <a:ea typeface="Aptos"/>
                <a:cs typeface="Aptos"/>
              </a:rPr>
              <a:t>Direct students to official sources while reducing repeated administrative questions.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8C232B-69EC-4D13-B0A6-BD4F1190D92A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0D515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045376-A7F8-48E7-8A21-FF1218C0EC5C}"/>
              </a:ext>
            </a:extLst>
          </p:cNvPr>
          <p:cNvSpPr>
            <a:spLocks noGrp="1"/>
          </p:cNvSpPr>
          <p:nvPr/>
        </p:nvSpPr>
        <p:spPr>
          <a:xfrm>
            <a:off x="876300" y="54864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Responsible design: eligibility and award decisions remain with the funding provider.</a:t>
            </a:r>
          </a:p>
        </p:txBody>
      </p:sp>
    </p:spTree>
    <p:extLst>
      <p:ext uri="{BB962C8B-B14F-4D97-AF65-F5344CB8AC3E}">
        <p14:creationId xmlns:p14="http://schemas.microsoft.com/office/powerpoint/2010/main" val="173524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B2E3EE-3F56-4107-90F5-781F209F05E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NEXT MILESTONES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E26AF4-A1D0-4EA5-A71D-AEF7BBC912F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practical path from hackathon prototype to trusted student service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61BDF3-FFCF-440C-A898-07E7BE7F8B88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Future work prioritises source freshness, institutional collaboration, and measurable student outcomes.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1870BB-D081-4681-AF0C-85231548DA0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0"/>
          </a:xfrm>
          <a:prstGeom prst="line">
            <a:avLst/>
          </a:prstGeom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F0203C-4D7B-4707-B6DA-8F7A3D962F1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4765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359362-9127-49AB-9F4F-BA234C9A0D21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EE78E6-AECE-4349-9504-C7B0FB85B130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33528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2B7D44-7D9E-4DA9-9419-7186569E26B9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857250" cy="266700"/>
          </a:xfrm>
          <a:prstGeom prst="roundRect">
            <a:avLst>
              <a:gd name="adj" fmla="val 28571"/>
            </a:avLst>
          </a:prstGeom>
          <a:solidFill>
            <a:srgbClr val="117D8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B5AFF1-4EAB-48F4-B2A0-ABA104B41EAD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666750" cy="1238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76B9C-D01D-41F8-99BA-329B346C96FD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2809875" cy="876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Profile-driven discovery, funding plan, safe application preparation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AE473D-F88B-4B4D-865A-6207A15573E4}"/>
              </a:ext>
            </a:extLst>
          </p:cNvPr>
          <p:cNvSpPr>
            <a:spLocks noGrp="1"/>
          </p:cNvSpPr>
          <p:nvPr/>
        </p:nvSpPr>
        <p:spPr>
          <a:xfrm>
            <a:off x="4276725" y="2571750"/>
            <a:ext cx="33528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BBC5F0-649A-474D-B128-8515F24EA92B}"/>
              </a:ext>
            </a:extLst>
          </p:cNvPr>
          <p:cNvSpPr>
            <a:spLocks noGrp="1"/>
          </p:cNvSpPr>
          <p:nvPr/>
        </p:nvSpPr>
        <p:spPr>
          <a:xfrm>
            <a:off x="4505325" y="2800350"/>
            <a:ext cx="857250" cy="266700"/>
          </a:xfrm>
          <a:prstGeom prst="roundRect">
            <a:avLst>
              <a:gd name="adj" fmla="val 28571"/>
            </a:avLst>
          </a:prstGeom>
          <a:solidFill>
            <a:srgbClr val="3966B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16434-87A3-4913-B75B-65191CCA936A}"/>
              </a:ext>
            </a:extLst>
          </p:cNvPr>
          <p:cNvSpPr>
            <a:spLocks noGrp="1"/>
          </p:cNvSpPr>
          <p:nvPr/>
        </p:nvSpPr>
        <p:spPr>
          <a:xfrm>
            <a:off x="4600575" y="2867025"/>
            <a:ext cx="666750" cy="1238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AA14C-3860-49CF-B01D-7DD1B9044863}"/>
              </a:ext>
            </a:extLst>
          </p:cNvPr>
          <p:cNvSpPr>
            <a:spLocks noGrp="1"/>
          </p:cNvSpPr>
          <p:nvPr/>
        </p:nvSpPr>
        <p:spPr>
          <a:xfrm>
            <a:off x="4505325" y="3333750"/>
            <a:ext cx="2809875" cy="876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Scheduled source checks, document expiry reminders, institution dashboards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E0ECEC-569B-4851-A7F3-236736C356AA}"/>
              </a:ext>
            </a:extLst>
          </p:cNvPr>
          <p:cNvSpPr>
            <a:spLocks noGrp="1"/>
          </p:cNvSpPr>
          <p:nvPr/>
        </p:nvSpPr>
        <p:spPr>
          <a:xfrm>
            <a:off x="7943850" y="2571750"/>
            <a:ext cx="33528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DE4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28ABAD-4E73-4421-B92D-2BD9DDA7AE9D}"/>
              </a:ext>
            </a:extLst>
          </p:cNvPr>
          <p:cNvSpPr>
            <a:spLocks noGrp="1"/>
          </p:cNvSpPr>
          <p:nvPr/>
        </p:nvSpPr>
        <p:spPr>
          <a:xfrm>
            <a:off x="8172450" y="2800350"/>
            <a:ext cx="857250" cy="266700"/>
          </a:xfrm>
          <a:prstGeom prst="roundRect">
            <a:avLst>
              <a:gd name="adj" fmla="val 28571"/>
            </a:avLst>
          </a:prstGeom>
          <a:solidFill>
            <a:srgbClr val="247B5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5CDEF3-B85A-4308-95F7-D3326BB1A897}"/>
              </a:ext>
            </a:extLst>
          </p:cNvPr>
          <p:cNvSpPr>
            <a:spLocks noGrp="1"/>
          </p:cNvSpPr>
          <p:nvPr/>
        </p:nvSpPr>
        <p:spPr>
          <a:xfrm>
            <a:off x="8267700" y="2867025"/>
            <a:ext cx="666750" cy="1238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F8EEC9-DACF-45A7-BE7F-F341BF98BD20}"/>
              </a:ext>
            </a:extLst>
          </p:cNvPr>
          <p:cNvSpPr>
            <a:spLocks noGrp="1"/>
          </p:cNvSpPr>
          <p:nvPr/>
        </p:nvSpPr>
        <p:spPr>
          <a:xfrm>
            <a:off x="8172450" y="3333750"/>
            <a:ext cx="2809875" cy="876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Consent-based integrations with university aid offices and outcome analytics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EEFC79-A856-4E8B-918B-E9C83A1883D0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096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The principle stays constant: help students make an informed decision before they invest application effort.</a:t>
            </a:r>
          </a:p>
        </p:txBody>
      </p:sp>
    </p:spTree>
    <p:extLst>
      <p:ext uri="{BB962C8B-B14F-4D97-AF65-F5344CB8AC3E}">
        <p14:creationId xmlns:p14="http://schemas.microsoft.com/office/powerpoint/2010/main" val="3499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51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41EE9F-B497-4415-A15B-9A8ECA41C0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515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3AB8E6-8DC7-428C-A38B-EA4D4B9209D4}"/>
              </a:ext>
            </a:extLst>
          </p:cNvPr>
          <p:cNvSpPr>
            <a:spLocks noGrp="1"/>
          </p:cNvSpPr>
          <p:nvPr/>
        </p:nvSpPr>
        <p:spPr>
          <a:xfrm>
            <a:off x="7848600" y="838200"/>
            <a:ext cx="2952750" cy="2952750"/>
          </a:xfrm>
          <a:prstGeom prst="roundRect">
            <a:avLst>
              <a:gd name="adj" fmla="val 2581"/>
            </a:avLst>
          </a:prstGeom>
          <a:solidFill>
            <a:srgbClr val="166F7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76F5B4-87EF-496C-8E66-59FC9770101F}"/>
              </a:ext>
            </a:extLst>
          </p:cNvPr>
          <p:cNvSpPr>
            <a:spLocks noGrp="1"/>
          </p:cNvSpPr>
          <p:nvPr/>
        </p:nvSpPr>
        <p:spPr>
          <a:xfrm>
            <a:off x="8324850" y="1314450"/>
            <a:ext cx="2000250" cy="2000250"/>
          </a:xfrm>
          <a:prstGeom prst="roundRect">
            <a:avLst>
              <a:gd name="adj" fmla="val 3810"/>
            </a:avLst>
          </a:prstGeom>
          <a:solidFill>
            <a:srgbClr val="1E858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868225-8458-4872-8FC0-C74B0517330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A8DF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DFDA"/>
                </a:solidFill>
                <a:latin typeface="Aptos"/>
                <a:ea typeface="Aptos"/>
                <a:cs typeface="Aptos"/>
              </a:rPr>
              <a:t>EDUFUND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DE7F56-89DA-4E62-8020-55B49F8156DD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628650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Funding plans</a:t>
            </a:r>
          </a:p>
          <a:p>
            <a:pPr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that move students forward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8472B-2B52-47B3-A357-D69A3BA216D7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905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D9F1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F1EF"/>
                </a:solidFill>
                <a:latin typeface="Aptos"/>
                <a:ea typeface="Aptos"/>
                <a:cs typeface="Aptos"/>
              </a:rPr>
              <a:t>Discover the right opportunities. Understand the funding gap. Prepare every application with confidence.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DF5742-B50C-456A-A6D6-0520D781129D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16A5A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31140C-DCFE-4BBF-8980-8638A5B77939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876300" cy="1238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BE9029-E005-406C-8785-D89BB8D3E35F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A8DFD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DFDA"/>
                </a:solidFill>
                <a:latin typeface="Aptos"/>
                <a:ea typeface="Aptos"/>
                <a:cs typeface="Aptos"/>
              </a:rPr>
              <a:t>Live product demonstration available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2D98EA-EC5F-4CA8-8AD0-DE4E5EAF3147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A8DFD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DFDA"/>
                </a:solidFill>
                <a:latin typeface="Aptos"/>
                <a:ea typeface="Aptos"/>
                <a:cs typeface="Aptos"/>
              </a:rPr>
              <a:t>EduFund keeps the student in control.</a:t>
            </a:r>
          </a:p>
        </p:txBody>
      </p:sp>
    </p:spTree>
    <p:extLst>
      <p:ext uri="{BB962C8B-B14F-4D97-AF65-F5344CB8AC3E}">
        <p14:creationId xmlns:p14="http://schemas.microsoft.com/office/powerpoint/2010/main" val="9821365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Office PowerPoint</Application>
  <DocSecurity>0</DocSecurity>
  <PresentationFormat>Widescreen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MARIYA JOEVITA V</cp:lastModifiedBy>
  <cp:revision>1</cp:revision>
  <dcterms:created xsi:type="dcterms:W3CDTF">2026-09-25T03:16:33Z</dcterms:created>
  <dcterms:modified xsi:type="dcterms:W3CDTF">2026-09-25T03:19:45Z</dcterms:modified>
</cp:coreProperties>
</file>