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20A8D8"/>
                </a:solidFill>
              </a:defRPr>
            </a:pPr>
            <a:r>
              <a:t>EduFund AI Agent OS</a:t>
            </a:r>
          </a:p>
          <a:p>
            <a:pPr algn="ctr">
              <a:spcBef>
                <a:spcPts val="2000"/>
              </a:spcBef>
              <a:defRPr sz="2000">
                <a:solidFill>
                  <a:srgbClr val="F8FAFC"/>
                </a:solidFill>
              </a:defRPr>
            </a:pPr>
            <a:r>
              <a:t>AI-Powered Education Funding Discovery, Financial Planning &amp; Application Autopilot</a:t>
            </a:r>
          </a:p>
          <a:p>
            <a:pPr algn="ctr">
              <a:spcBef>
                <a:spcPts val="3000"/>
              </a:spcBef>
              <a:defRPr sz="1400">
                <a:solidFill>
                  <a:srgbClr val="2ECC71"/>
                </a:solidFill>
              </a:defRPr>
            </a:pPr>
            <a:r>
              <a:t>Bridging the Education Funding Gap with Multi-Agent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Core Problem in Education 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Fragmented Opportunities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Funding is scattered across hundreds of portals, university sites, and grant listings.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39C12"/>
                </a:solidFill>
              </a:defRPr>
            </a:pPr>
            <a:r>
              <a:t>Eligibility Complexity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Students waste time applying for opportunities with hidden restrictions or missed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Repetitive Friction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Filling out identical marksheets, income proofs, and essays creates severe application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39C12"/>
                </a:solidFill>
              </a:defRPr>
            </a:pPr>
            <a:r>
              <a:t>No Financial Strategy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Scholarship sites act as static directories without calculating actual out-of-pocket funding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EduFund Solution — 6 Autonomous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1. Profile Agent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Parses GPA, major, family income &amp; budget.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0A8D8"/>
                </a:solidFill>
              </a:defRPr>
            </a:pPr>
            <a:r>
              <a:t>2. Discovery Agent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Queries curated funding repositories.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3. Eligibility Agent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Performs line-by-line criteria reasoning.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9C12"/>
                </a:solidFill>
              </a:defRPr>
            </a:pPr>
            <a:r>
              <a:t>4. Planner Agent ⭐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Solves Funding Gap with EV portfolio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023360"/>
            <a:ext cx="33832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5. Autopilot Agent 🔥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AI Essay Studio &amp; document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023360"/>
            <a:ext cx="33832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74C3C"/>
                </a:solidFill>
              </a:defRPr>
            </a:pPr>
            <a:r>
              <a:t>6. Deadline Agent 🗺️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Monitors closing dates &amp; document reuse.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FinTech Financial Engine &amp; Gap Calculation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6459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0A8D8"/>
                </a:solidFill>
              </a:defRPr>
            </a:pPr>
            <a:r>
              <a:t>THE EDUCATION FUNDING EQUATION</a:t>
            </a:r>
          </a:p>
          <a:p>
            <a:pPr algn="ctr">
              <a:spcBef>
                <a:spcPts val="1500"/>
              </a:spcBef>
              <a:defRPr sz="2200" b="1">
                <a:solidFill>
                  <a:srgbClr val="F8FAFC"/>
                </a:solidFill>
              </a:defRPr>
            </a:pPr>
            <a:r>
              <a:t>Target Annual Education Cost  −  Confirmed Aid  =  Remaining Funding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2743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📊 Funding Confidence Meter Engine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Statistical Probability Algorithm (0 to 100% Score):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45% Strategy Gap Coverage Ratio  |  30% Avg Academic/Financial Match</a:t>
            </a:r>
            <a:br/>
            <a:r>
              <a:t>• 15% Document Verification Readiness  |  10% Time-to-Deadline Buffer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Expected Value (EV) Strategy Portfolio Solver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39C12"/>
                </a:solidFill>
              </a:defRPr>
            </a:pPr>
            <a:r>
              <a:t>Expected Value (EV) Formulation</a:t>
            </a:r>
          </a:p>
          <a:p>
            <a:pPr>
              <a:spcBef>
                <a:spcPts val="1500"/>
              </a:spcBef>
              <a:defRPr sz="1400" b="1">
                <a:solidFill>
                  <a:srgbClr val="F8FAFC"/>
                </a:solidFill>
              </a:defRPr>
            </a:pPr>
            <a:r>
              <a:t>EV = Funding Amount × Eligibility Match % × Urgency Weight</a:t>
            </a:r>
          </a:p>
          <a:p>
            <a:pPr>
              <a:spcBef>
                <a:spcPts val="1500"/>
              </a:spcBef>
              <a:defRPr sz="1300">
                <a:solidFill>
                  <a:srgbClr val="94A3B8"/>
                </a:solidFill>
              </a:defRPr>
            </a:pPr>
            <a:r>
              <a:t>• Prioritizes high-payoff, high-match opportunities.</a:t>
            </a:r>
            <a:br/>
            <a:r>
              <a:t>• Minimizes wasted effort on unlikely applications.</a:t>
            </a:r>
            <a:br/>
            <a:r>
              <a:t>• Solves optimal combinations to achieve 100% gap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0A8D8"/>
                </a:solidFill>
              </a:defRPr>
            </a:pPr>
            <a:r>
              <a:t>Real-Time Strategy Scenario Simulator</a:t>
            </a:r>
          </a:p>
          <a:p>
            <a:pPr>
              <a:spcBef>
                <a:spcPts val="1500"/>
              </a:spcBef>
              <a:defRPr sz="1400" b="1">
                <a:solidFill>
                  <a:srgbClr val="F8FAFC"/>
                </a:solidFill>
              </a:defRPr>
            </a:pPr>
            <a:r>
              <a:t>Interactive 'What-If' Parameter Controls:</a:t>
            </a:r>
          </a:p>
          <a:p>
            <a:pPr>
              <a:spcBef>
                <a:spcPts val="1500"/>
              </a:spcBef>
              <a:defRPr sz="1300">
                <a:solidFill>
                  <a:srgbClr val="94A3B8"/>
                </a:solidFill>
              </a:defRPr>
            </a:pPr>
            <a:r>
              <a:t>• 'What if family contribution increases by ₹15,000?'</a:t>
            </a:r>
            <a:br/>
            <a:r>
              <a:t>• 'What if a Work-Study stipend is added?'</a:t>
            </a:r>
            <a:br/>
            <a:r>
              <a:t>• Real-time solver re-calculates remaining gap and EV stack.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Application Autopilot &amp; AI Essay Studio 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Tailored Response Generation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Synthesizes custom SOPs &amp; essay responses tailored to student achievements and opportunity prompts.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0A8D8"/>
                </a:solidFill>
              </a:defRPr>
            </a:pPr>
            <a:r>
              <a:t>AI Essay Refiner Presets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Instant tone modifiers: '⚡ High Impact', '🎓 Academic Rigor', '✂️ Shorten (&lt;100w)'.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Human Safety Review Control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Safety Guarantee: AI never submits financial documents without explicit student authorization.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AI Evidence Checker &amp; Document Auditor 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🔍 AI Essay Evidence Checker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• Cross-references essay statements against verified student profile facts.</a:t>
            </a:r>
            <a:br/>
            <a:r>
              <a:t>• Highlights validated claims in green ('✓ VALIDATED').</a:t>
            </a:r>
            <a:br/>
            <a:r>
              <a:t>• Flags unverified claims in amber ('⚠️ UNVERIFIED PROFILE').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0A8D8"/>
                </a:solidFill>
              </a:defRPr>
            </a:pPr>
            <a:r>
              <a:t>📄 Document Verification Auditor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• Audits attached mock PDFs (marksheets, income certificates, LORs).</a:t>
            </a:r>
            <a:br/>
            <a:r>
              <a:t>• Verifies document readiness against opportunity rules.</a:t>
            </a:r>
            <a:br/>
            <a:r>
              <a:t>• Flags missing signatures or unverified income 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Document Reuse Map &amp; Deadline Collisions 🗺️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0A8D8"/>
                </a:solidFill>
              </a:defRPr>
            </a:pPr>
            <a:r>
              <a:t>🗺️ Document Reuse Mapping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• Maps 1 uploaded document across multiple target applications.</a:t>
            </a:r>
            <a:br/>
            <a:r>
              <a:t>• Example: '1 Income Certificate satisfies 3 scholarship requirements!'</a:t>
            </a:r>
            <a:br/>
            <a:r>
              <a:t>• Reduces repetitive upload effort by 60%+.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⏰ Deadline Collision Detector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• Audits closing dates to detect application collisions within tight 3–7 day windows.</a:t>
            </a:r>
            <a:br/>
            <a:r>
              <a:t>• Highlights collision risk levels ('HIGH_COLLISION').</a:t>
            </a:r>
            <a:br/>
            <a:r>
              <a:t>• Recommends an optimized submission sequence.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Technical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0A8D8"/>
                </a:solidFill>
              </a:defRPr>
            </a:pPr>
            <a:r>
              <a:t>🐍 Backend Architecture (Python FastAPI)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FastAPI REST API engine with Pydantic schemas and Uvicorn runner.</a:t>
            </a:r>
            <a:br/>
            <a:r>
              <a:t>• SQLite database persistence (edufund.db) for student profiles &amp; applications.</a:t>
            </a:r>
            <a:br/>
            <a:r>
              <a:t>• Modular agent pipeline (Profile, Discovery, Eligibility, Planner, Autopilot, Deadline).</a:t>
            </a:r>
          </a:p>
          <a:p>
            <a:pPr>
              <a:spcBef>
                <a:spcPts val="2500"/>
              </a:spcBef>
              <a:defRPr sz="1800" b="1">
                <a:solidFill>
                  <a:srgbClr val="2ECC71"/>
                </a:solidFill>
              </a:defRPr>
            </a:pPr>
            <a:r>
              <a:t>⚛️ Frontend UI (React + Vite)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React single-page app built with Vite and Lucide React Icons.</a:t>
            </a:r>
            <a:br/>
            <a:r>
              <a:t>• Bento Grid Command Center &amp; Collapsible Glass Sidebar.</a:t>
            </a:r>
            <a:br/>
            <a:r>
              <a:t>• Dual Currency Engine (₹ INR / $ USD toggle).</a:t>
            </a:r>
            <a:br/>
            <a:r>
              <a:t>• Interactive How-It-Works Slide-over Side Panel.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Empowering Education Funding Equity</a:t>
            </a:r>
          </a:p>
          <a:p>
            <a:pPr algn="ctr">
              <a:spcBef>
                <a:spcPts val="2000"/>
              </a:spcBef>
              <a:defRPr sz="1800">
                <a:solidFill>
                  <a:srgbClr val="F8FAFC"/>
                </a:solidFill>
              </a:defRPr>
            </a:pPr>
            <a:r>
              <a:t>EduFund turns static scholarship search into an autonomous, AI-guided financial strategy.</a:t>
            </a:r>
          </a:p>
          <a:p>
            <a:pPr algn="ctr">
              <a:spcBef>
                <a:spcPts val="3000"/>
              </a:spcBef>
              <a:defRPr sz="1600" b="1">
                <a:solidFill>
                  <a:srgbClr val="20A8D8"/>
                </a:solidFill>
              </a:defRPr>
            </a:pPr>
            <a:r>
              <a:t>Experience Live Platform: http://127.0.0.1:5173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